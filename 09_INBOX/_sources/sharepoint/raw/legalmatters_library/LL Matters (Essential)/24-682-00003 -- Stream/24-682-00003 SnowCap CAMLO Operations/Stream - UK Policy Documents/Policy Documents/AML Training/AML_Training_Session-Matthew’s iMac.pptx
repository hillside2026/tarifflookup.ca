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650" r:id="rId3"/>
  </p:sldMasterIdLst>
  <p:notesMasterIdLst>
    <p:notesMasterId r:id="rId24"/>
  </p:notesMasterIdLst>
  <p:handoutMasterIdLst>
    <p:handoutMasterId r:id="rId25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4" r:id="rId20"/>
    <p:sldId id="272" r:id="rId21"/>
    <p:sldId id="275" r:id="rId22"/>
    <p:sldId id="273" r:id="rId23"/>
  </p:sldIdLst>
  <p:sldSz cx="10080625" cy="7559675"/>
  <p:notesSz cx="7104063" cy="10234613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757" userDrawn="1">
          <p15:clr>
            <a:srgbClr val="A4A3A4"/>
          </p15:clr>
        </p15:guide>
        <p15:guide id="2" pos="203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1212" y="10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757"/>
        <p:guide pos="203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32" Type="http://schemas.openxmlformats.org/officeDocument/2006/relationships/customXml" Target="../customXml/item3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customXml" Target="../customXml/item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C243C-F9FF-4EA6-967D-CE7C5AE45A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9123" cy="513630"/>
          </a:xfrm>
          <a:prstGeom prst="rect">
            <a:avLst/>
          </a:prstGeom>
        </p:spPr>
        <p:txBody>
          <a:bodyPr vert="horz" lIns="86859" tIns="43429" rIns="86859" bIns="43429" rtlCol="0"/>
          <a:lstStyle>
            <a:lvl1pPr algn="l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1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57C405-6225-486D-B87E-E2B8DE72A8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448" y="1"/>
            <a:ext cx="3079123" cy="513630"/>
          </a:xfrm>
          <a:prstGeom prst="rect">
            <a:avLst/>
          </a:prstGeom>
        </p:spPr>
        <p:txBody>
          <a:bodyPr vert="horz" lIns="86859" tIns="43429" rIns="86859" bIns="43429" rtlCol="0"/>
          <a:lstStyle>
            <a:lvl1pPr algn="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100"/>
            </a:lvl1pPr>
          </a:lstStyle>
          <a:p>
            <a:pPr>
              <a:defRPr/>
            </a:pPr>
            <a:fld id="{191B6D35-F50E-4F64-98D5-6A47C187A833}" type="datetimeFigureOut">
              <a:rPr lang="en-GB"/>
              <a:pPr>
                <a:defRPr/>
              </a:pPr>
              <a:t>29/04/2021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BD67C4-7F2B-496E-B3F3-519B65DC55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0983"/>
            <a:ext cx="3079123" cy="513630"/>
          </a:xfrm>
          <a:prstGeom prst="rect">
            <a:avLst/>
          </a:prstGeom>
        </p:spPr>
        <p:txBody>
          <a:bodyPr vert="horz" lIns="86859" tIns="43429" rIns="86859" bIns="43429" rtlCol="0" anchor="b"/>
          <a:lstStyle>
            <a:lvl1pPr algn="l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1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8A2CAF-4EA7-4F00-AD46-2025A2A70E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448" y="9720983"/>
            <a:ext cx="3079123" cy="513630"/>
          </a:xfrm>
          <a:prstGeom prst="rect">
            <a:avLst/>
          </a:prstGeom>
        </p:spPr>
        <p:txBody>
          <a:bodyPr vert="horz" lIns="86859" tIns="43429" rIns="86859" bIns="43429" rtlCol="0" anchor="b"/>
          <a:lstStyle>
            <a:lvl1pPr algn="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100"/>
            </a:lvl1pPr>
          </a:lstStyle>
          <a:p>
            <a:pPr>
              <a:defRPr/>
            </a:pPr>
            <a:fld id="{E78B7DF6-91C6-49F5-B44C-4C105BC194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">
            <a:extLst>
              <a:ext uri="{FF2B5EF4-FFF2-40B4-BE49-F238E27FC236}">
                <a16:creationId xmlns:a16="http://schemas.microsoft.com/office/drawing/2014/main" id="{46AD514F-314F-4334-8893-E63350C7A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104063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59" tIns="43429" rIns="86859" bIns="43429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4099" name="AutoShape 2">
            <a:extLst>
              <a:ext uri="{FF2B5EF4-FFF2-40B4-BE49-F238E27FC236}">
                <a16:creationId xmlns:a16="http://schemas.microsoft.com/office/drawing/2014/main" id="{170BF191-9AD1-48B2-809C-3CF8A8166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104063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59" tIns="43429" rIns="86859" bIns="43429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4100" name="AutoShape 3">
            <a:extLst>
              <a:ext uri="{FF2B5EF4-FFF2-40B4-BE49-F238E27FC236}">
                <a16:creationId xmlns:a16="http://schemas.microsoft.com/office/drawing/2014/main" id="{D7B12C6D-8E13-4AA6-9E33-4AD6AEAF1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104063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59" tIns="43429" rIns="86859" bIns="43429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4101" name="AutoShape 4">
            <a:extLst>
              <a:ext uri="{FF2B5EF4-FFF2-40B4-BE49-F238E27FC236}">
                <a16:creationId xmlns:a16="http://schemas.microsoft.com/office/drawing/2014/main" id="{2D067D1E-7259-492A-99AF-00259B49E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104063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59" tIns="43429" rIns="86859" bIns="43429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4102" name="AutoShape 5">
            <a:extLst>
              <a:ext uri="{FF2B5EF4-FFF2-40B4-BE49-F238E27FC236}">
                <a16:creationId xmlns:a16="http://schemas.microsoft.com/office/drawing/2014/main" id="{58807F45-6B4C-4E10-B5C3-E53BCC450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104063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59" tIns="43429" rIns="86859" bIns="43429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4103" name="AutoShape 6">
            <a:extLst>
              <a:ext uri="{FF2B5EF4-FFF2-40B4-BE49-F238E27FC236}">
                <a16:creationId xmlns:a16="http://schemas.microsoft.com/office/drawing/2014/main" id="{C21AC65D-8F62-483D-B3F1-20B4574AD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104063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59" tIns="43429" rIns="86859" bIns="43429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4104" name="AutoShape 7">
            <a:extLst>
              <a:ext uri="{FF2B5EF4-FFF2-40B4-BE49-F238E27FC236}">
                <a16:creationId xmlns:a16="http://schemas.microsoft.com/office/drawing/2014/main" id="{2480C56C-9D70-4FE9-9E57-5426C1592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104063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59" tIns="43429" rIns="86859" bIns="43429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4105" name="AutoShape 8">
            <a:extLst>
              <a:ext uri="{FF2B5EF4-FFF2-40B4-BE49-F238E27FC236}">
                <a16:creationId xmlns:a16="http://schemas.microsoft.com/office/drawing/2014/main" id="{02C8CD4A-A612-4638-A716-A25645487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104063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59" tIns="43429" rIns="86859" bIns="43429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4106" name="Rectangle 9">
            <a:extLst>
              <a:ext uri="{FF2B5EF4-FFF2-40B4-BE49-F238E27FC236}">
                <a16:creationId xmlns:a16="http://schemas.microsoft.com/office/drawing/2014/main" id="{5F6ABB8B-E653-4CFC-AE1D-60B7182C54A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95363" y="777875"/>
            <a:ext cx="5099050" cy="382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B49BB373-5BAB-424D-AE08-BBB0FC937AC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10108" y="4861252"/>
            <a:ext cx="5670421" cy="4592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27F3A6B8-02D5-449C-BF60-30AD717BD659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070173" cy="49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95000"/>
              </a:lnSpc>
              <a:buClrTx/>
              <a:buSzPct val="100000"/>
              <a:buFontTx/>
              <a:buNone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EFDDF58B-7072-4704-A62C-1942C428DEED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020465" y="0"/>
            <a:ext cx="3070173" cy="49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lnSpc>
                <a:spcPct val="95000"/>
              </a:lnSpc>
              <a:buClrTx/>
              <a:buSzPct val="100000"/>
              <a:buFontTx/>
              <a:buNone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F5551323-4DA3-418C-9385-1FEA8E71F857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9722502"/>
            <a:ext cx="3070173" cy="49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>
              <a:lnSpc>
                <a:spcPct val="95000"/>
              </a:lnSpc>
              <a:buClrTx/>
              <a:buSzPct val="100000"/>
              <a:buFontTx/>
              <a:buNone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110" name="Rectangle 14">
            <a:extLst>
              <a:ext uri="{FF2B5EF4-FFF2-40B4-BE49-F238E27FC236}">
                <a16:creationId xmlns:a16="http://schemas.microsoft.com/office/drawing/2014/main" id="{4A2F75EB-8A3D-4300-A9A7-F5E3C10E632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020465" y="9722502"/>
            <a:ext cx="3070173" cy="49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>
              <a:lnSpc>
                <a:spcPct val="95000"/>
              </a:lnSpc>
              <a:buClrTx/>
              <a:buSzPct val="100000"/>
              <a:buFontTx/>
              <a:buNone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fld id="{E6A9D22A-2AC8-47A3-A1AA-B5D40F90A36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4">
            <a:extLst>
              <a:ext uri="{FF2B5EF4-FFF2-40B4-BE49-F238E27FC236}">
                <a16:creationId xmlns:a16="http://schemas.microsoft.com/office/drawing/2014/main" id="{C06EFA52-5617-4826-92C5-A27C329063C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8CCD284-F9D1-4001-BF7C-E839725127A4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7171" name="Rectangle 1">
            <a:extLst>
              <a:ext uri="{FF2B5EF4-FFF2-40B4-BE49-F238E27FC236}">
                <a16:creationId xmlns:a16="http://schemas.microsoft.com/office/drawing/2014/main" id="{91907C5D-84B2-4229-9309-8B0BC8DE05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303670CE-ACB1-4F4C-A1F9-4C681FD31C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0108" y="4861252"/>
            <a:ext cx="5683847" cy="499345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4">
            <a:extLst>
              <a:ext uri="{FF2B5EF4-FFF2-40B4-BE49-F238E27FC236}">
                <a16:creationId xmlns:a16="http://schemas.microsoft.com/office/drawing/2014/main" id="{3657C669-D3C2-4281-846D-761DA0351CC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4170179-2B95-4409-903D-49C16E7ECB71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3F64FEA3-C8A2-484F-99E0-5B60AEF2B0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4">
            <a:extLst>
              <a:ext uri="{FF2B5EF4-FFF2-40B4-BE49-F238E27FC236}">
                <a16:creationId xmlns:a16="http://schemas.microsoft.com/office/drawing/2014/main" id="{1C65DDB5-9BD3-425F-82EB-56D48826870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B0B7790-9D06-4B74-8262-306482499520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11267" name="Rectangle 1">
            <a:extLst>
              <a:ext uri="{FF2B5EF4-FFF2-40B4-BE49-F238E27FC236}">
                <a16:creationId xmlns:a16="http://schemas.microsoft.com/office/drawing/2014/main" id="{6CAD4337-5C05-4B68-BC01-14F60ABE98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4">
            <a:extLst>
              <a:ext uri="{FF2B5EF4-FFF2-40B4-BE49-F238E27FC236}">
                <a16:creationId xmlns:a16="http://schemas.microsoft.com/office/drawing/2014/main" id="{263F5ADC-52AF-427F-99F0-F9ED8C7EEA4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07A776C-50A2-41AB-8DA4-1CB07C12FC37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13315" name="Rectangle 1">
            <a:extLst>
              <a:ext uri="{FF2B5EF4-FFF2-40B4-BE49-F238E27FC236}">
                <a16:creationId xmlns:a16="http://schemas.microsoft.com/office/drawing/2014/main" id="{7058CC82-7B76-4A4A-8029-B109A22746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4">
            <a:extLst>
              <a:ext uri="{FF2B5EF4-FFF2-40B4-BE49-F238E27FC236}">
                <a16:creationId xmlns:a16="http://schemas.microsoft.com/office/drawing/2014/main" id="{7D70B929-9024-48E1-A115-568701A9EEB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9DF9DFA-0978-4D74-BE6B-45FA94112153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FB1D3087-6C32-4CD0-BA73-2368334319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4">
            <a:extLst>
              <a:ext uri="{FF2B5EF4-FFF2-40B4-BE49-F238E27FC236}">
                <a16:creationId xmlns:a16="http://schemas.microsoft.com/office/drawing/2014/main" id="{9C970337-A45C-4F52-8457-C7710E1782C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ABBE878-B75C-44DC-B250-3B7ACCA6B1EF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17411" name="Rectangle 1">
            <a:extLst>
              <a:ext uri="{FF2B5EF4-FFF2-40B4-BE49-F238E27FC236}">
                <a16:creationId xmlns:a16="http://schemas.microsoft.com/office/drawing/2014/main" id="{79C321C2-58A4-44EB-A7F5-C763942950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4">
            <a:extLst>
              <a:ext uri="{FF2B5EF4-FFF2-40B4-BE49-F238E27FC236}">
                <a16:creationId xmlns:a16="http://schemas.microsoft.com/office/drawing/2014/main" id="{3A0E68C5-1EF3-4B5C-BDE4-9DE9045A8F0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A0BAD2F-71D7-480D-B2BF-6D7134C1E50F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1100121C-9C84-4158-9B28-5C26390EF4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4">
            <a:extLst>
              <a:ext uri="{FF2B5EF4-FFF2-40B4-BE49-F238E27FC236}">
                <a16:creationId xmlns:a16="http://schemas.microsoft.com/office/drawing/2014/main" id="{0D6FF1B5-0CBE-4C77-9EA5-D0C3BDB45CC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49B9E5-B43E-4C75-A497-89D1DA9C5DD4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21507" name="Rectangle 1">
            <a:extLst>
              <a:ext uri="{FF2B5EF4-FFF2-40B4-BE49-F238E27FC236}">
                <a16:creationId xmlns:a16="http://schemas.microsoft.com/office/drawing/2014/main" id="{5D5D02C6-55C2-4728-B01C-376F6BCEA2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4">
            <a:extLst>
              <a:ext uri="{FF2B5EF4-FFF2-40B4-BE49-F238E27FC236}">
                <a16:creationId xmlns:a16="http://schemas.microsoft.com/office/drawing/2014/main" id="{956B7596-14B6-46AB-8A2D-5AD686D8FCA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679EFD6-1146-47E9-BFDF-0A5698152052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3F369A1F-95E9-405A-991A-287F0C5CC3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4">
            <a:extLst>
              <a:ext uri="{FF2B5EF4-FFF2-40B4-BE49-F238E27FC236}">
                <a16:creationId xmlns:a16="http://schemas.microsoft.com/office/drawing/2014/main" id="{320C1277-436E-48D0-8EA9-0B0812B5BAA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BF12A4D-1AA8-4531-8620-5DC932297292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25603" name="Rectangle 1">
            <a:extLst>
              <a:ext uri="{FF2B5EF4-FFF2-40B4-BE49-F238E27FC236}">
                <a16:creationId xmlns:a16="http://schemas.microsoft.com/office/drawing/2014/main" id="{156AB6F3-067F-4A45-8EDA-8456CD4A6E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4">
            <a:extLst>
              <a:ext uri="{FF2B5EF4-FFF2-40B4-BE49-F238E27FC236}">
                <a16:creationId xmlns:a16="http://schemas.microsoft.com/office/drawing/2014/main" id="{4F038BF5-3CEA-40AB-B10B-766CE50698A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92CA882-EBB4-4771-95A8-3BD18B84C71E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27651" name="Rectangle 1">
            <a:extLst>
              <a:ext uri="{FF2B5EF4-FFF2-40B4-BE49-F238E27FC236}">
                <a16:creationId xmlns:a16="http://schemas.microsoft.com/office/drawing/2014/main" id="{3D73E007-2436-4349-BE90-0686E9E168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4">
            <a:extLst>
              <a:ext uri="{FF2B5EF4-FFF2-40B4-BE49-F238E27FC236}">
                <a16:creationId xmlns:a16="http://schemas.microsoft.com/office/drawing/2014/main" id="{5440ECB6-C127-4866-835B-3D0892EF244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B75A480-DFBD-465D-84FE-B58D272ED4AD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29699" name="Rectangle 1">
            <a:extLst>
              <a:ext uri="{FF2B5EF4-FFF2-40B4-BE49-F238E27FC236}">
                <a16:creationId xmlns:a16="http://schemas.microsoft.com/office/drawing/2014/main" id="{F3067A1C-BED7-4355-A775-1BB6AFE62D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4">
            <a:extLst>
              <a:ext uri="{FF2B5EF4-FFF2-40B4-BE49-F238E27FC236}">
                <a16:creationId xmlns:a16="http://schemas.microsoft.com/office/drawing/2014/main" id="{B910575F-860E-4957-B741-D2F3926AA29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5F0BCFA-19FC-4FE6-939C-1FC78AFAB311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87646AF2-6010-4ADB-A44E-F6525FDE71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4">
            <a:extLst>
              <a:ext uri="{FF2B5EF4-FFF2-40B4-BE49-F238E27FC236}">
                <a16:creationId xmlns:a16="http://schemas.microsoft.com/office/drawing/2014/main" id="{7B8817E8-77B7-461D-BB06-F6094B11CB3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8A16A70-A763-4EF6-BA0E-715387C399D2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339F1E6F-6191-45B3-B0F6-76CE9E04A5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4">
            <a:extLst>
              <a:ext uri="{FF2B5EF4-FFF2-40B4-BE49-F238E27FC236}">
                <a16:creationId xmlns:a16="http://schemas.microsoft.com/office/drawing/2014/main" id="{2F972039-B76E-423C-8E90-964A7A634B4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C953A8C-0A78-4C7C-A782-A36F9023FE06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35843" name="Rectangle 1">
            <a:extLst>
              <a:ext uri="{FF2B5EF4-FFF2-40B4-BE49-F238E27FC236}">
                <a16:creationId xmlns:a16="http://schemas.microsoft.com/office/drawing/2014/main" id="{2A3F32AF-6EF9-4D66-BAAC-D333B44E51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4">
            <a:extLst>
              <a:ext uri="{FF2B5EF4-FFF2-40B4-BE49-F238E27FC236}">
                <a16:creationId xmlns:a16="http://schemas.microsoft.com/office/drawing/2014/main" id="{C0513C2B-88AE-4470-8B65-62AA65826F8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C1D17C9-1BC7-4636-BA72-840F5F50694C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37891" name="Rectangle 1">
            <a:extLst>
              <a:ext uri="{FF2B5EF4-FFF2-40B4-BE49-F238E27FC236}">
                <a16:creationId xmlns:a16="http://schemas.microsoft.com/office/drawing/2014/main" id="{14EED150-4DD0-483E-BE8A-93A567BBA6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4">
            <a:extLst>
              <a:ext uri="{FF2B5EF4-FFF2-40B4-BE49-F238E27FC236}">
                <a16:creationId xmlns:a16="http://schemas.microsoft.com/office/drawing/2014/main" id="{5440ECB6-C127-4866-835B-3D0892EF244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B75A480-DFBD-465D-84FE-B58D272ED4AD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29699" name="Rectangle 1">
            <a:extLst>
              <a:ext uri="{FF2B5EF4-FFF2-40B4-BE49-F238E27FC236}">
                <a16:creationId xmlns:a16="http://schemas.microsoft.com/office/drawing/2014/main" id="{F3067A1C-BED7-4355-A775-1BB6AFE62D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  <p:extLst>
      <p:ext uri="{BB962C8B-B14F-4D97-AF65-F5344CB8AC3E}">
        <p14:creationId xmlns:p14="http://schemas.microsoft.com/office/powerpoint/2010/main" val="20126017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4">
            <a:extLst>
              <a:ext uri="{FF2B5EF4-FFF2-40B4-BE49-F238E27FC236}">
                <a16:creationId xmlns:a16="http://schemas.microsoft.com/office/drawing/2014/main" id="{37266F2A-E53C-4428-9C8C-D7126DF27E8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43B7C1C-7901-465E-8A3C-8ED4C75E182B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39939" name="Rectangle 1">
            <a:extLst>
              <a:ext uri="{FF2B5EF4-FFF2-40B4-BE49-F238E27FC236}">
                <a16:creationId xmlns:a16="http://schemas.microsoft.com/office/drawing/2014/main" id="{8B5F6E91-1DE3-4868-A6B3-624DD8B912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4">
            <a:extLst>
              <a:ext uri="{FF2B5EF4-FFF2-40B4-BE49-F238E27FC236}">
                <a16:creationId xmlns:a16="http://schemas.microsoft.com/office/drawing/2014/main" id="{5440ECB6-C127-4866-835B-3D0892EF244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B75A480-DFBD-465D-84FE-B58D272ED4AD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29699" name="Rectangle 1">
            <a:extLst>
              <a:ext uri="{FF2B5EF4-FFF2-40B4-BE49-F238E27FC236}">
                <a16:creationId xmlns:a16="http://schemas.microsoft.com/office/drawing/2014/main" id="{F3067A1C-BED7-4355-A775-1BB6AFE62D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  <p:extLst>
      <p:ext uri="{BB962C8B-B14F-4D97-AF65-F5344CB8AC3E}">
        <p14:creationId xmlns:p14="http://schemas.microsoft.com/office/powerpoint/2010/main" val="31359271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4">
            <a:extLst>
              <a:ext uri="{FF2B5EF4-FFF2-40B4-BE49-F238E27FC236}">
                <a16:creationId xmlns:a16="http://schemas.microsoft.com/office/drawing/2014/main" id="{336E8B3C-39FA-4061-BFF9-31CA2DF86A5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C7727EB-3CC6-4835-924D-86348CC8F19D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41987" name="Rectangle 1">
            <a:extLst>
              <a:ext uri="{FF2B5EF4-FFF2-40B4-BE49-F238E27FC236}">
                <a16:creationId xmlns:a16="http://schemas.microsoft.com/office/drawing/2014/main" id="{4E7C1DC5-C4E0-4065-929D-E9BF2AD2D8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F399B601-F6AB-4C10-8553-F2DD9F95A5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0108" y="4861252"/>
            <a:ext cx="5680863" cy="4602916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262ABA-F695-498F-AF61-EB7D91CBB09D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3FAB25-DEEF-4B67-B562-2CEB3B7C7AED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DEDFB5-D57B-4852-8A46-2EF3F7F8FF60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12D5F6-4E4A-435E-A7C6-9DD8959E126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44665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81EEEB-A7A1-4573-B694-66CEFF586E83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0E5811-C7BF-4C52-BCB2-803059E19B6D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777E95-D858-4BB4-8160-8C53539D8D5F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8C5DE8-31BF-4185-96C7-B051DD503CF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28289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903620-3B7F-4913-B3BA-47F18DD2C34E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D612E4-E89A-4643-9257-B75D36328E16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7C9254-7520-4B2F-994F-00DE298C07BE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308E1F-5F18-4662-811C-8549DE5AA7A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36474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1350" cy="497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6988" y="1768475"/>
            <a:ext cx="4452937" cy="497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A061A54-AEF2-483E-963F-FAB4E3F6430F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DFBFC7C-B2D1-41E8-BE1D-BFA081FE1D77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6A7BEDC-587A-446C-8AEE-2DF7A8FD4CA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BA512E-825E-401A-91C6-3660FC21518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06189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928A9E9-3A4B-4CA6-A60C-7CFBDA9B95C0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653CC8E-70FD-47CF-BE80-D0633825DF2B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40D8F563-FC98-4267-8B29-6F3473F3DAD5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97D57A-BFD3-416B-897F-A311A3EA48D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92116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27CF88F-14F4-43FA-8781-9108ABAB1B52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730F67-4C6D-48E3-B595-83C8ED89668E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8AC5730-8747-40D4-9DE8-C8B00B8D9D1E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61AF3A-476C-45A5-BA5F-C56081C387D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62620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329E06CF-DBF3-4578-AE2F-81487B7B58DB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83C2D85-3856-4AEA-93C1-B8253A11D5D2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7BAC0F1-9ED0-49D1-92A2-1BF0BDFB33F8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BA925F-F4B5-40A9-A4FD-DA40E0EDBE0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8600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790310B-7EB6-4385-B077-0C55EF6B08D5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7E77D6F-1151-4DC0-AC0F-5C306C979143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7AC82D4-7CC9-487E-A07C-3E269975E5E9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B07D2-A75D-4CE2-BB04-9397B428BD3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23975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3592525-D27C-4E85-A99D-E24064933CB3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2C35ABE-CF06-45D5-B8BF-CCE51D5981FC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EE64590-823F-4B41-BD88-F085BC979E5F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D2593-F958-4249-8154-414FA381951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16951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4B0066-67E8-4AB9-ABD0-F4F89FE7114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38AC2-E68A-48B2-B43F-B17150DB6983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911AF4-765F-4ECE-B04C-85DF022CF925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D6172D-2964-4F97-BF65-95F96421CF2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77687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6150" y="301625"/>
            <a:ext cx="2263775" cy="6442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40512" cy="6442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41BDE9-9E5F-4452-9AF1-19FBBAAE81AA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AA228-DBCA-4DA2-94EE-B96F039E9F33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8C0B12-1DF8-4000-BF78-377F8576FE8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C8976-E8D1-4CEF-B50D-474E2B63274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86877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301625"/>
            <a:ext cx="9056687" cy="1247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B4CBD93-35CB-433F-895B-5158A4239EFF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497886B-131D-4278-9A11-FE7DD28114A8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24575B-D7B1-4767-ADF4-E25A8F4DE8D5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74A4D6-B23F-4C0F-A481-4BED376C26F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535879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301625"/>
            <a:ext cx="9056687" cy="1247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9056687" cy="2411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238" y="4332288"/>
            <a:ext cx="9056687" cy="2411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08BE43A-6D7F-4B19-A9E1-C83234DC3CA0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E235609-E6DB-40F1-8A2D-13A8D40804A8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72E829C-AEEE-4CA8-903F-B42F4243F1FF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6DFB0B-68DC-4F39-AE37-F6BFB5DABB3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188468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082A50-F9AC-4AC8-9947-02716964EFDC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2FEC14-93C8-49E3-AA69-6FD653593959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F2D020-F98E-4488-967B-35748FA0B96B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F14378-E795-4447-808E-BF60C003A08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128035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B248E-C948-4026-93EA-428DC3A000B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ACF73D-1911-4C70-9756-859DE1E6A1B5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3E57FB-8B76-4CCA-B82B-48AB00397975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8F25D4-3FB1-42DF-8EBA-0A5C7B1F249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374588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FDA9E-EC6A-4BDC-915D-7A4D6176EF3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96C94-8209-4742-857E-28D492C1B60F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8A009-EFE6-4E71-8BCB-D1C88E2C6C89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8425AD-691F-43B5-BED3-1D74651959E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97806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1350" cy="497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6988" y="1768475"/>
            <a:ext cx="4452937" cy="497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FC667F8-F378-436B-A10F-0DECFB6E124A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2CBC533-1500-47EC-99F7-DF95FFF0417D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ED22DCE-3360-41D1-848E-F75C42801E43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44480-0D6D-4370-A2C2-667B303C7C1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344994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A29302A-01FD-4CBF-9310-D2F2F4853E7B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C7818650-1F87-4891-AF23-3A0841C565EB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56BD2E7-6265-46BF-AFCF-F54D621E2C0D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561C09-1FEE-4215-9AF2-DBB74140169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584149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D8EE4E0-19AB-4175-9275-2F08AB0F59F6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8E017CB-E8A5-46B6-A831-A418B7EAA3DE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08E1FAD-2541-4C36-8565-82467FAC7FA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1C850B-100A-4D49-871F-79B414D0316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671589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0030867-1EB8-40B9-BBAF-A5CA9C58D21F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1052CAE-75BA-4C03-B5D6-078D7C4308F1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FCB0EF2-CC3C-4819-AE73-9D70C5976B35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3C61A9-8A97-474C-AC0E-9010B942F8E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285773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25B13AA-676D-4DC8-BD14-AC930B5B22A2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82B38F5-848D-4598-87F7-76CEE1E8A251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EC1ED5F-4C9B-48F2-97A3-96260FB84E80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FE797C-6DFE-482D-A4B1-A0228B29B72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47681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12E48FD-7AE1-44CF-838F-18C17150BD95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F9720CF-8C8A-4553-A0E1-4D00E34E1F6A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9A91BB6-9CA7-4141-AAE1-B48F3694AF0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B173A-8C33-45F3-9635-B3CF781BA23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714206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9AD85E-3591-404C-9DB9-A930E1BC5D9E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65596A-F645-415F-AFE8-918CE26CF8CD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F6D1B4-09DF-4B73-873C-0F8649A490F7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217335-4430-4D8A-8C6A-FD2AF97412E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18274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6150" y="301625"/>
            <a:ext cx="2263775" cy="6442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40512" cy="6442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56B71B-41D0-473D-B4B5-597098412EC6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C69279-ED39-49E1-9167-D1722C5DCB30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DABF4C-30B6-4EB0-BC2F-16574C920FA7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DFBE49-3F01-492E-A289-F719B6E5570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83206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2062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0257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30098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9775" y="2101850"/>
            <a:ext cx="4221163" cy="4748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338" y="2101850"/>
            <a:ext cx="4221162" cy="4748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77392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6262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5771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62423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80320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91565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7802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6613" y="555625"/>
            <a:ext cx="2147887" cy="6294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9775" y="555625"/>
            <a:ext cx="6294438" cy="6294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709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C39E4B2A-A37E-44B3-A657-3B6EDABF75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3238" y="301625"/>
            <a:ext cx="9056687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74504077-BDBC-4A72-A95F-40E8305611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768475"/>
            <a:ext cx="9056687" cy="497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124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F7F253F-AC89-4F2B-A22A-5A45188EF8C9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503238" y="6886575"/>
            <a:ext cx="2333625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93000"/>
              </a:lnSpc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10F8984-CD1C-4B1E-B896-8B59CE7E3322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3448050" y="6886575"/>
            <a:ext cx="31813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93000"/>
              </a:lnSpc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ABE00CD-8440-4777-B251-52B85308431D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7227888" y="6886575"/>
            <a:ext cx="2333625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93000"/>
              </a:lnSpc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60CA4838-28FF-4508-9902-1E80EDD629A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txStyles>
    <p:titleStyle>
      <a:lvl1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2pPr>
      <a:lvl3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3pPr>
      <a:lvl4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4pPr>
      <a:lvl5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5pPr>
      <a:lvl6pPr marL="25146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6pPr>
      <a:lvl7pPr marL="29718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7pPr>
      <a:lvl8pPr marL="34290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8pPr>
      <a:lvl9pPr marL="38862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9pPr>
    </p:titleStyle>
    <p:bodyStyle>
      <a:lvl1pPr marL="342900" indent="-342900" algn="l" defTabSz="449263" rtl="0" eaLnBrk="0" fontAlgn="base" hangingPunct="0">
        <a:lnSpc>
          <a:spcPct val="93000"/>
        </a:lnSpc>
        <a:spcBef>
          <a:spcPct val="0"/>
        </a:spcBef>
        <a:spcAft>
          <a:spcPts val="1413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3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56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27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>
            <a:extLst>
              <a:ext uri="{FF2B5EF4-FFF2-40B4-BE49-F238E27FC236}">
                <a16:creationId xmlns:a16="http://schemas.microsoft.com/office/drawing/2014/main" id="{7D9F3C99-D1F6-4C8D-9634-17C27F9CA6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3238" y="301625"/>
            <a:ext cx="9056687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2051" name="Rectangle 2">
            <a:extLst>
              <a:ext uri="{FF2B5EF4-FFF2-40B4-BE49-F238E27FC236}">
                <a16:creationId xmlns:a16="http://schemas.microsoft.com/office/drawing/2014/main" id="{621BE148-71E5-4DC2-8AE3-19D110A615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768475"/>
            <a:ext cx="9056687" cy="497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808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9FA72007-BBAA-4C86-8AD0-B950F987DE03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503238" y="6886575"/>
            <a:ext cx="2333625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95000"/>
              </a:lnSpc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F5F8D6C-4F17-4C05-A185-7D64100F29DC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3448050" y="6886575"/>
            <a:ext cx="31813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eaLnBrk="1">
              <a:lnSpc>
                <a:spcPct val="95000"/>
              </a:lnSpc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F853FF8A-B91E-45A0-ABDF-91768BAC5B8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7227888" y="6886575"/>
            <a:ext cx="2333625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lnSpc>
                <a:spcPct val="95000"/>
              </a:lnSpc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fld id="{E8E2C916-2765-4ED7-899C-6945F35A2EA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 kern="12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2pPr>
      <a:lvl3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3pPr>
      <a:lvl4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4pPr>
      <a:lvl5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5pPr>
      <a:lvl6pPr marL="25146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6pPr>
      <a:lvl7pPr marL="29718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7pPr>
      <a:lvl8pPr marL="34290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8pPr>
      <a:lvl9pPr marL="38862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9pPr>
    </p:titleStyle>
    <p:bodyStyle>
      <a:lvl1pPr marL="342900" indent="-342900" algn="l" defTabSz="449263" rtl="0" eaLnBrk="0" fontAlgn="base" hangingPunct="0">
        <a:lnSpc>
          <a:spcPct val="93000"/>
        </a:lnSpc>
        <a:spcBef>
          <a:spcPct val="0"/>
        </a:spcBef>
        <a:spcAft>
          <a:spcPts val="1413"/>
        </a:spcAft>
        <a:buClr>
          <a:srgbClr val="000000"/>
        </a:buClr>
        <a:buSzPct val="100000"/>
        <a:buFont typeface="Times New Roman" panose="02020603050405020304" pitchFamily="18" charset="0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3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1">
            <a:extLst>
              <a:ext uri="{FF2B5EF4-FFF2-40B4-BE49-F238E27FC236}">
                <a16:creationId xmlns:a16="http://schemas.microsoft.com/office/drawing/2014/main" id="{02F9AFC9-99EA-49FB-9226-AE06AA892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3" y="1892300"/>
            <a:ext cx="9674225" cy="5665788"/>
          </a:xfrm>
          <a:prstGeom prst="roundRect">
            <a:avLst>
              <a:gd name="adj" fmla="val 28"/>
            </a:avLst>
          </a:prstGeom>
          <a:solidFill>
            <a:srgbClr val="DDDDDD"/>
          </a:solidFill>
          <a:ln w="9360" cap="sq">
            <a:solidFill>
              <a:srgbClr val="C0C0C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>
              <a:ea typeface="Arial Unicode MS" panose="020B0604020202020204" pitchFamily="34" charset="-128"/>
            </a:endParaRP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09739D87-4E24-4FA3-BE19-E499299783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39775" y="555625"/>
            <a:ext cx="8594725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C3C21200-43C4-4202-AF82-BC593E2B2C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39775" y="2101850"/>
            <a:ext cx="8594725" cy="474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124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3077" name="AutoShape 4">
            <a:extLst>
              <a:ext uri="{FF2B5EF4-FFF2-40B4-BE49-F238E27FC236}">
                <a16:creationId xmlns:a16="http://schemas.microsoft.com/office/drawing/2014/main" id="{5B00E786-DC3A-4689-8649-4AD0FF44E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563" cy="919163"/>
          </a:xfrm>
          <a:prstGeom prst="roundRect">
            <a:avLst>
              <a:gd name="adj" fmla="val 875"/>
            </a:avLst>
          </a:prstGeom>
          <a:solidFill>
            <a:srgbClr val="125C8D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>
              <a:ea typeface="Arial Unicode MS" panose="020B0604020202020204" pitchFamily="34" charset="-128"/>
            </a:endParaRPr>
          </a:p>
        </p:txBody>
      </p:sp>
      <p:sp>
        <p:nvSpPr>
          <p:cNvPr id="3078" name="AutoShape 5">
            <a:extLst>
              <a:ext uri="{FF2B5EF4-FFF2-40B4-BE49-F238E27FC236}">
                <a16:creationId xmlns:a16="http://schemas.microsoft.com/office/drawing/2014/main" id="{52082DCE-BA02-496E-826D-2E9CFA0F1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1250"/>
            <a:ext cx="182563" cy="919163"/>
          </a:xfrm>
          <a:prstGeom prst="roundRect">
            <a:avLst>
              <a:gd name="adj" fmla="val 875"/>
            </a:avLst>
          </a:prstGeom>
          <a:solidFill>
            <a:srgbClr val="125C8D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>
              <a:ea typeface="Arial Unicode MS" panose="020B0604020202020204" pitchFamily="34" charset="-128"/>
            </a:endParaRPr>
          </a:p>
        </p:txBody>
      </p:sp>
      <p:sp>
        <p:nvSpPr>
          <p:cNvPr id="3079" name="AutoShape 6">
            <a:extLst>
              <a:ext uri="{FF2B5EF4-FFF2-40B4-BE49-F238E27FC236}">
                <a16:creationId xmlns:a16="http://schemas.microsoft.com/office/drawing/2014/main" id="{EC105979-6827-4CAE-879D-F3FFD685D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68400"/>
            <a:ext cx="182563" cy="919163"/>
          </a:xfrm>
          <a:prstGeom prst="roundRect">
            <a:avLst>
              <a:gd name="adj" fmla="val 875"/>
            </a:avLst>
          </a:prstGeom>
          <a:solidFill>
            <a:srgbClr val="125C8D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>
              <a:ea typeface="Arial Unicode MS" panose="020B0604020202020204" pitchFamily="3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 kern="1200">
          <a:solidFill>
            <a:srgbClr val="333333"/>
          </a:solidFill>
          <a:latin typeface="+mj-lt"/>
          <a:ea typeface="Arial Unicode MS" panose="020B0604020202020204" pitchFamily="34" charset="-128"/>
          <a:cs typeface="+mj-cs"/>
        </a:defRPr>
      </a:lvl1pPr>
      <a:lvl2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333333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2pPr>
      <a:lvl3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333333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3pPr>
      <a:lvl4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333333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4pPr>
      <a:lvl5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333333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5pPr>
      <a:lvl6pPr marL="25146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333333"/>
          </a:solidFill>
          <a:latin typeface="Arial" panose="020B0604020202020204" pitchFamily="34" charset="0"/>
          <a:cs typeface="Arial Unicode MS" panose="020B0604020202020204" pitchFamily="34" charset="-128"/>
        </a:defRPr>
      </a:lvl6pPr>
      <a:lvl7pPr marL="29718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333333"/>
          </a:solidFill>
          <a:latin typeface="Arial" panose="020B0604020202020204" pitchFamily="34" charset="0"/>
          <a:cs typeface="Arial Unicode MS" panose="020B0604020202020204" pitchFamily="34" charset="-128"/>
        </a:defRPr>
      </a:lvl7pPr>
      <a:lvl8pPr marL="34290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333333"/>
          </a:solidFill>
          <a:latin typeface="Arial" panose="020B0604020202020204" pitchFamily="34" charset="0"/>
          <a:cs typeface="Arial Unicode MS" panose="020B0604020202020204" pitchFamily="34" charset="-128"/>
        </a:defRPr>
      </a:lvl8pPr>
      <a:lvl9pPr marL="38862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333333"/>
          </a:solidFill>
          <a:latin typeface="Arial" panose="020B0604020202020204" pitchFamily="34" charset="0"/>
          <a:cs typeface="Arial Unicode MS" panose="020B0604020202020204" pitchFamily="34" charset="-128"/>
        </a:defRPr>
      </a:lvl9pPr>
    </p:titleStyle>
    <p:bodyStyle>
      <a:lvl1pPr marL="342900" indent="-342900"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Arial Unicode MS" panose="020B0604020202020204" pitchFamily="34" charset="-128"/>
          <a:cs typeface="+mn-cs"/>
        </a:defRPr>
      </a:lvl1pPr>
      <a:lvl2pPr marL="742950" indent="-285750"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Arial Unicode MS" panose="020B0604020202020204" pitchFamily="34" charset="-128"/>
          <a:cs typeface="+mn-cs"/>
        </a:defRPr>
      </a:lvl2pPr>
      <a:lvl3pPr marL="1143000" indent="-228600"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Arial Unicode MS" panose="020B0604020202020204" pitchFamily="34" charset="-128"/>
          <a:cs typeface="+mn-cs"/>
        </a:defRPr>
      </a:lvl3pPr>
      <a:lvl4pPr marL="1600200" indent="-228600"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Arial Unicode MS" panose="020B0604020202020204" pitchFamily="34" charset="-128"/>
          <a:cs typeface="+mn-cs"/>
        </a:defRPr>
      </a:lvl4pPr>
      <a:lvl5pPr marL="2057400" indent="-228600"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Arial Unicode MS" panose="020B060402020202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youtube.com/watch?v=pGocvqSKi4k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9327B6E5-456F-4B96-B0FC-70D2C9E6857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04825" y="720725"/>
            <a:ext cx="9070975" cy="1854200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en-US" sz="6600">
                <a:solidFill>
                  <a:srgbClr val="FFFFFF"/>
                </a:solidFill>
                <a:latin typeface="Verdana" panose="020B0604030504040204" pitchFamily="34" charset="0"/>
              </a:rPr>
              <a:t>ANTI-MONEY</a:t>
            </a:r>
            <a:br>
              <a:rPr lang="en-GB" altLang="en-US" sz="6600">
                <a:solidFill>
                  <a:srgbClr val="FFFFFF"/>
                </a:solidFill>
                <a:latin typeface="Verdana" panose="020B0604030504040204" pitchFamily="34" charset="0"/>
              </a:rPr>
            </a:br>
            <a:r>
              <a:rPr lang="en-GB" altLang="en-US" sz="6600">
                <a:solidFill>
                  <a:srgbClr val="FFFFFF"/>
                </a:solidFill>
                <a:latin typeface="Verdana" panose="020B0604030504040204" pitchFamily="34" charset="0"/>
              </a:rPr>
              <a:t>LAUNDERING</a:t>
            </a:r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39773D12-30DC-4BDA-8829-B3A913EAD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6480175"/>
            <a:ext cx="6840538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lnSpc>
                <a:spcPct val="101000"/>
              </a:lnSpc>
              <a:spcAft>
                <a:spcPct val="0"/>
              </a:spcAft>
              <a:buClrTx/>
              <a:buFontTx/>
              <a:buNone/>
            </a:pPr>
            <a:r>
              <a:rPr lang="en-GB" altLang="en-US" sz="4000" i="1">
                <a:solidFill>
                  <a:srgbClr val="FFFFFF"/>
                </a:solidFill>
                <a:latin typeface="Verdana" panose="020B0604030504040204" pitchFamily="34" charset="0"/>
              </a:rPr>
              <a:t>Training Session</a:t>
            </a:r>
          </a:p>
        </p:txBody>
      </p:sp>
      <p:pic>
        <p:nvPicPr>
          <p:cNvPr id="6148" name="Picture 3">
            <a:extLst>
              <a:ext uri="{FF2B5EF4-FFF2-40B4-BE49-F238E27FC236}">
                <a16:creationId xmlns:a16="http://schemas.microsoft.com/office/drawing/2014/main" id="{CAB2F120-57F5-4720-9E6F-2A2685BE8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963" y="3240088"/>
            <a:ext cx="4994275" cy="237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891E3929-430B-438A-B476-E4B747D4DBF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4000">
                <a:solidFill>
                  <a:srgbClr val="FFFFFF"/>
                </a:solidFill>
                <a:latin typeface="Verdana" panose="020B0604030504040204" pitchFamily="34" charset="0"/>
              </a:rPr>
              <a:t>What is Money Laundering?</a:t>
            </a:r>
          </a:p>
        </p:txBody>
      </p:sp>
      <p:sp>
        <p:nvSpPr>
          <p:cNvPr id="8195" name="Oval 2">
            <a:extLst>
              <a:ext uri="{FF2B5EF4-FFF2-40B4-BE49-F238E27FC236}">
                <a16:creationId xmlns:a16="http://schemas.microsoft.com/office/drawing/2014/main" id="{05B4B9BB-6897-46BB-A80C-F4C0D3745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728788"/>
            <a:ext cx="7920038" cy="2700337"/>
          </a:xfrm>
          <a:prstGeom prst="ellipse">
            <a:avLst/>
          </a:prstGeom>
          <a:solidFill>
            <a:srgbClr val="006633">
              <a:alpha val="50195"/>
            </a:srgbClr>
          </a:solidFill>
          <a:ln w="9360" cap="sq">
            <a:solidFill>
              <a:srgbClr val="000000"/>
            </a:solidFill>
            <a:round/>
            <a:headEnd/>
            <a:tailEnd/>
          </a:ln>
          <a:effectLst>
            <a:outerShdw dist="50912" dir="2700000" algn="ctr" rotWithShape="0">
              <a:srgbClr val="4C4C4C">
                <a:alpha val="50026"/>
              </a:srgbClr>
            </a:outerShdw>
          </a:effectLst>
        </p:spPr>
        <p:txBody>
          <a:bodyPr lIns="90000" tIns="76680" rIns="90000" bIns="45000" anchor="ctr" anchorCtr="1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800" i="1">
                <a:solidFill>
                  <a:srgbClr val="FFFFFF"/>
                </a:solidFill>
              </a:rPr>
              <a:t>“The concealment of the origins of illegally obtained money, typically by means of transfers involving foreign banks or legitimate businesses”</a:t>
            </a:r>
          </a:p>
        </p:txBody>
      </p:sp>
      <p:sp>
        <p:nvSpPr>
          <p:cNvPr id="8196" name="Text Box 3">
            <a:extLst>
              <a:ext uri="{FF2B5EF4-FFF2-40B4-BE49-F238E27FC236}">
                <a16:creationId xmlns:a16="http://schemas.microsoft.com/office/drawing/2014/main" id="{C15E37B2-9118-4966-B8AC-4E7276756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679950"/>
            <a:ext cx="9720262" cy="160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lnSpc>
                <a:spcPct val="101000"/>
              </a:lnSpc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Money laundering is just one type of financial crime – other types include terrorist financing, bribery and fraud.</a:t>
            </a:r>
          </a:p>
          <a:p>
            <a:pPr algn="ctr" eaLnBrk="1">
              <a:lnSpc>
                <a:spcPct val="101000"/>
              </a:lnSpc>
              <a:spcAft>
                <a:spcPct val="0"/>
              </a:spcAft>
              <a:buClrTx/>
              <a:buFontTx/>
              <a:buNone/>
            </a:pPr>
            <a:endParaRPr lang="en-GB" altLang="en-US" sz="2200">
              <a:solidFill>
                <a:srgbClr val="FFFFFF"/>
              </a:solidFill>
              <a:latin typeface="Verdana" panose="020B0604030504040204" pitchFamily="34" charset="0"/>
            </a:endParaRPr>
          </a:p>
          <a:p>
            <a:pPr algn="ctr" eaLnBrk="1">
              <a:lnSpc>
                <a:spcPct val="101000"/>
              </a:lnSpc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The UK economy is the 2</a:t>
            </a:r>
            <a:r>
              <a:rPr lang="en-GB" altLang="en-US" sz="2200" baseline="33000">
                <a:solidFill>
                  <a:srgbClr val="FFFFFF"/>
                </a:solidFill>
                <a:latin typeface="Verdana" panose="020B0604030504040204" pitchFamily="34" charset="0"/>
              </a:rPr>
              <a:t>nd</a:t>
            </a: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 largest in Europe and as such, is at risk from financial crime!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>
            <a:extLst>
              <a:ext uri="{FF2B5EF4-FFF2-40B4-BE49-F238E27FC236}">
                <a16:creationId xmlns:a16="http://schemas.microsoft.com/office/drawing/2014/main" id="{1EAC2977-F02C-4337-B748-2F82F923D1D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Legal Rules &amp; Regulatory Requirements</a:t>
            </a:r>
          </a:p>
        </p:txBody>
      </p:sp>
      <p:sp>
        <p:nvSpPr>
          <p:cNvPr id="10243" name="AutoShape 2">
            <a:extLst>
              <a:ext uri="{FF2B5EF4-FFF2-40B4-BE49-F238E27FC236}">
                <a16:creationId xmlns:a16="http://schemas.microsoft.com/office/drawing/2014/main" id="{22D2B2DD-9EFE-42F9-A56F-DEE5829C0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1595438"/>
            <a:ext cx="7054850" cy="3589337"/>
          </a:xfrm>
          <a:prstGeom prst="roundRect">
            <a:avLst>
              <a:gd name="adj" fmla="val 65"/>
            </a:avLst>
          </a:prstGeom>
          <a:solidFill>
            <a:srgbClr val="006633">
              <a:alpha val="50195"/>
            </a:srgbClr>
          </a:solidFill>
          <a:ln w="936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marL="461963" indent="-212725"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</a:pPr>
            <a:r>
              <a:rPr lang="en-GB" altLang="en-US" sz="2200" dirty="0">
                <a:solidFill>
                  <a:srgbClr val="FFFFFF"/>
                </a:solidFill>
                <a:latin typeface="Verdana" panose="020B0604030504040204" pitchFamily="34" charset="0"/>
              </a:rPr>
              <a:t>The Proceeds of Crime Act 2002</a:t>
            </a:r>
          </a:p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</a:pPr>
            <a:r>
              <a:rPr lang="en-GB" altLang="en-US" sz="2200" dirty="0">
                <a:solidFill>
                  <a:srgbClr val="FFFFFF"/>
                </a:solidFill>
                <a:latin typeface="Verdana" panose="020B0604030504040204" pitchFamily="34" charset="0"/>
              </a:rPr>
              <a:t>Terrorism Act 2000</a:t>
            </a:r>
          </a:p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</a:pPr>
            <a:r>
              <a:rPr lang="en-GB" altLang="en-US" sz="2200" dirty="0">
                <a:solidFill>
                  <a:srgbClr val="FFFFFF"/>
                </a:solidFill>
                <a:latin typeface="Verdana" panose="020B0604030504040204" pitchFamily="34" charset="0"/>
              </a:rPr>
              <a:t>Serious Organised Crime &amp; Police Act 2005</a:t>
            </a:r>
          </a:p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</a:pPr>
            <a:r>
              <a:rPr lang="en-GB" altLang="en-US" sz="2200" dirty="0">
                <a:solidFill>
                  <a:srgbClr val="FFFFFF"/>
                </a:solidFill>
                <a:latin typeface="Verdana" panose="020B0604030504040204" pitchFamily="34" charset="0"/>
              </a:rPr>
              <a:t>Anti-Terrorism, Crime &amp; Security Act 2001</a:t>
            </a:r>
          </a:p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</a:pPr>
            <a:r>
              <a:rPr lang="en-GB" altLang="en-US" sz="2200" dirty="0">
                <a:solidFill>
                  <a:srgbClr val="FFFFFF"/>
                </a:solidFill>
                <a:latin typeface="Verdana" panose="020B0604030504040204" pitchFamily="34" charset="0"/>
              </a:rPr>
              <a:t>Serious Crime Act 2007</a:t>
            </a:r>
          </a:p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</a:pPr>
            <a:r>
              <a:rPr lang="en-GB" altLang="en-US" sz="2200" dirty="0">
                <a:solidFill>
                  <a:srgbClr val="FFFFFF"/>
                </a:solidFill>
                <a:latin typeface="Verdana" panose="020B0604030504040204" pitchFamily="34" charset="0"/>
              </a:rPr>
              <a:t>The Money Laundering Regulations 2017 </a:t>
            </a:r>
            <a:r>
              <a:rPr lang="en-GB" altLang="en-US" sz="2200" i="1" dirty="0">
                <a:solidFill>
                  <a:srgbClr val="FFFFFF"/>
                </a:solidFill>
                <a:latin typeface="Verdana" panose="020B0604030504040204" pitchFamily="34" charset="0"/>
              </a:rPr>
              <a:t>(inc 2019/2020 amendments)</a:t>
            </a:r>
          </a:p>
        </p:txBody>
      </p:sp>
      <p:sp>
        <p:nvSpPr>
          <p:cNvPr id="10244" name="Text Box 3">
            <a:extLst>
              <a:ext uri="{FF2B5EF4-FFF2-40B4-BE49-F238E27FC236}">
                <a16:creationId xmlns:a16="http://schemas.microsoft.com/office/drawing/2014/main" id="{3F902AF8-287C-4A87-A39A-81EF110F7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>
                <a:solidFill>
                  <a:srgbClr val="FFFFFF"/>
                </a:solidFill>
              </a:rPr>
              <a:t>There are many laws and regulations regarding financial crime and money laundering.</a:t>
            </a:r>
            <a:r>
              <a:rPr lang="en-GB" altLang="en-US" sz="1800"/>
              <a:t> </a:t>
            </a:r>
          </a:p>
        </p:txBody>
      </p:sp>
      <p:sp>
        <p:nvSpPr>
          <p:cNvPr id="10245" name="Text Box 4">
            <a:extLst>
              <a:ext uri="{FF2B5EF4-FFF2-40B4-BE49-F238E27FC236}">
                <a16:creationId xmlns:a16="http://schemas.microsoft.com/office/drawing/2014/main" id="{97A574F1-86A4-4380-A988-431E83936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0638" y="5894388"/>
            <a:ext cx="7637462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spcAft>
                <a:spcPct val="0"/>
              </a:spcAft>
              <a:buClrTx/>
              <a:buFontTx/>
              <a:buNone/>
            </a:pPr>
            <a:r>
              <a:rPr lang="en-GB" altLang="en-US" sz="4000" u="sng">
                <a:solidFill>
                  <a:srgbClr val="CCFF99"/>
                </a:solidFill>
                <a:latin typeface="Cambria" panose="02040503050406030204" pitchFamily="18" charset="0"/>
              </a:rPr>
              <a:t>Which of these apply to your firm?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>
            <a:extLst>
              <a:ext uri="{FF2B5EF4-FFF2-40B4-BE49-F238E27FC236}">
                <a16:creationId xmlns:a16="http://schemas.microsoft.com/office/drawing/2014/main" id="{0E0832BB-6929-4ACA-8DFC-9F4F64A4596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Joint Money Laundering Steering Group</a:t>
            </a:r>
          </a:p>
        </p:txBody>
      </p:sp>
      <p:sp>
        <p:nvSpPr>
          <p:cNvPr id="12291" name="Text Box 2">
            <a:extLst>
              <a:ext uri="{FF2B5EF4-FFF2-40B4-BE49-F238E27FC236}">
                <a16:creationId xmlns:a16="http://schemas.microsoft.com/office/drawing/2014/main" id="{81E7F2B4-C19D-4BBA-BDDF-CC8A3733A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3095625"/>
            <a:ext cx="9288463" cy="79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CCFF99"/>
                </a:solidFill>
              </a:rPr>
              <a:t>The FCA uses JMLSG’s provisions and guidance when deciding whether the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CCFF99"/>
                </a:solidFill>
              </a:rPr>
              <a:t>conduct of a firm amounts to a breach of relevant requirements. </a:t>
            </a:r>
          </a:p>
        </p:txBody>
      </p:sp>
      <p:sp>
        <p:nvSpPr>
          <p:cNvPr id="12292" name="AutoShape 3">
            <a:extLst>
              <a:ext uri="{FF2B5EF4-FFF2-40B4-BE49-F238E27FC236}">
                <a16:creationId xmlns:a16="http://schemas.microsoft.com/office/drawing/2014/main" id="{E3931B85-9EB2-4400-973A-4C6673446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511300"/>
            <a:ext cx="7848600" cy="1223963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600">
                <a:solidFill>
                  <a:srgbClr val="461900"/>
                </a:solidFill>
              </a:rPr>
              <a:t>JMLSG is made up of the Financial Services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600">
                <a:solidFill>
                  <a:srgbClr val="461900"/>
                </a:solidFill>
              </a:rPr>
              <a:t>industry's leading trade associations</a:t>
            </a:r>
          </a:p>
        </p:txBody>
      </p:sp>
      <p:sp>
        <p:nvSpPr>
          <p:cNvPr id="12293" name="Freeform 4">
            <a:extLst>
              <a:ext uri="{FF2B5EF4-FFF2-40B4-BE49-F238E27FC236}">
                <a16:creationId xmlns:a16="http://schemas.microsoft.com/office/drawing/2014/main" id="{F0AA983A-0A74-49D9-BF54-70D4FAC6D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3959225"/>
            <a:ext cx="2952750" cy="1368425"/>
          </a:xfrm>
          <a:custGeom>
            <a:avLst/>
            <a:gdLst>
              <a:gd name="T0" fmla="*/ 36066474 w 21600"/>
              <a:gd name="T1" fmla="*/ 28737432 h 21600"/>
              <a:gd name="T2" fmla="*/ 98481868 w 21600"/>
              <a:gd name="T3" fmla="*/ 7906772 h 21600"/>
              <a:gd name="T4" fmla="*/ 130250314 w 21600"/>
              <a:gd name="T5" fmla="*/ 10435381 h 21600"/>
              <a:gd name="T6" fmla="*/ 174539103 w 21600"/>
              <a:gd name="T7" fmla="*/ 2608814 h 21600"/>
              <a:gd name="T8" fmla="*/ 209484352 w 21600"/>
              <a:gd name="T9" fmla="*/ 6823119 h 21600"/>
              <a:gd name="T10" fmla="*/ 245737561 w 21600"/>
              <a:gd name="T11" fmla="*/ 0 h 21600"/>
              <a:gd name="T12" fmla="*/ 277879748 w 21600"/>
              <a:gd name="T13" fmla="*/ 4655749 h 21600"/>
              <a:gd name="T14" fmla="*/ 312824861 w 21600"/>
              <a:gd name="T15" fmla="*/ 0 h 21600"/>
              <a:gd name="T16" fmla="*/ 357113787 w 21600"/>
              <a:gd name="T17" fmla="*/ 10876888 h 21600"/>
              <a:gd name="T18" fmla="*/ 393553866 w 21600"/>
              <a:gd name="T19" fmla="*/ 24964633 h 21600"/>
              <a:gd name="T20" fmla="*/ 389255838 w 21600"/>
              <a:gd name="T21" fmla="*/ 30744202 h 21600"/>
              <a:gd name="T22" fmla="*/ 403645026 w 21600"/>
              <a:gd name="T23" fmla="*/ 41982265 h 21600"/>
              <a:gd name="T24" fmla="*/ 348517594 w 21600"/>
              <a:gd name="T25" fmla="*/ 60244214 h 21600"/>
              <a:gd name="T26" fmla="*/ 294698257 w 21600"/>
              <a:gd name="T27" fmla="*/ 75937388 h 21600"/>
              <a:gd name="T28" fmla="*/ 266106751 w 21600"/>
              <a:gd name="T29" fmla="*/ 73489111 h 21600"/>
              <a:gd name="T30" fmla="*/ 205559929 w 21600"/>
              <a:gd name="T31" fmla="*/ 86693842 h 21600"/>
              <a:gd name="T32" fmla="*/ 153422429 w 21600"/>
              <a:gd name="T33" fmla="*/ 78305396 h 21600"/>
              <a:gd name="T34" fmla="*/ 116608609 w 21600"/>
              <a:gd name="T35" fmla="*/ 81436049 h 21600"/>
              <a:gd name="T36" fmla="*/ 54193078 w 21600"/>
              <a:gd name="T37" fmla="*/ 70799965 h 21600"/>
              <a:gd name="T38" fmla="*/ 8969935 w 21600"/>
              <a:gd name="T39" fmla="*/ 58839424 h 21600"/>
              <a:gd name="T40" fmla="*/ 19995312 w 21600"/>
              <a:gd name="T41" fmla="*/ 50731949 h 21600"/>
              <a:gd name="T42" fmla="*/ 0 w 21600"/>
              <a:gd name="T43" fmla="*/ 40617642 h 21600"/>
              <a:gd name="T44" fmla="*/ 36066474 w 21600"/>
              <a:gd name="T45" fmla="*/ 28737432 h 21600"/>
              <a:gd name="T46" fmla="*/ 36066474 w 21600"/>
              <a:gd name="T47" fmla="*/ 28737432 h 21600"/>
              <a:gd name="T48" fmla="*/ 39056407 w 21600"/>
              <a:gd name="T49" fmla="*/ 31787753 h 21600"/>
              <a:gd name="T50" fmla="*/ 130250314 w 21600"/>
              <a:gd name="T51" fmla="*/ 10435381 h 21600"/>
              <a:gd name="T52" fmla="*/ 143331406 w 21600"/>
              <a:gd name="T53" fmla="*/ 13284999 h 21600"/>
              <a:gd name="T54" fmla="*/ 209484352 w 21600"/>
              <a:gd name="T55" fmla="*/ 6823119 h 21600"/>
              <a:gd name="T56" fmla="*/ 206120541 w 21600"/>
              <a:gd name="T57" fmla="*/ 9632635 h 21600"/>
              <a:gd name="T58" fmla="*/ 277879748 w 21600"/>
              <a:gd name="T59" fmla="*/ 4655749 h 21600"/>
              <a:gd name="T60" fmla="*/ 271712875 w 21600"/>
              <a:gd name="T61" fmla="*/ 8067372 h 21600"/>
              <a:gd name="T62" fmla="*/ 357113787 w 21600"/>
              <a:gd name="T63" fmla="*/ 10876888 h 21600"/>
              <a:gd name="T64" fmla="*/ 358608753 w 21600"/>
              <a:gd name="T65" fmla="*/ 13565970 h 21600"/>
              <a:gd name="T66" fmla="*/ 389255838 w 21600"/>
              <a:gd name="T67" fmla="*/ 30744202 h 21600"/>
              <a:gd name="T68" fmla="*/ 375801004 w 21600"/>
              <a:gd name="T69" fmla="*/ 36082326 h 21600"/>
              <a:gd name="T70" fmla="*/ 348704464 w 21600"/>
              <a:gd name="T71" fmla="*/ 60244214 h 21600"/>
              <a:gd name="T72" fmla="*/ 317683638 w 21600"/>
              <a:gd name="T73" fmla="*/ 45955766 h 21600"/>
              <a:gd name="T74" fmla="*/ 266106751 w 21600"/>
              <a:gd name="T75" fmla="*/ 73489111 h 21600"/>
              <a:gd name="T76" fmla="*/ 268536072 w 21600"/>
              <a:gd name="T77" fmla="*/ 69676146 h 21600"/>
              <a:gd name="T78" fmla="*/ 153609300 w 21600"/>
              <a:gd name="T79" fmla="*/ 78305396 h 21600"/>
              <a:gd name="T80" fmla="*/ 146881951 w 21600"/>
              <a:gd name="T81" fmla="*/ 74813569 h 21600"/>
              <a:gd name="T82" fmla="*/ 54193078 w 21600"/>
              <a:gd name="T83" fmla="*/ 70799965 h 21600"/>
              <a:gd name="T84" fmla="*/ 64657980 w 21600"/>
              <a:gd name="T85" fmla="*/ 70037385 h 21600"/>
              <a:gd name="T86" fmla="*/ 19995312 w 21600"/>
              <a:gd name="T87" fmla="*/ 50731949 h 21600"/>
              <a:gd name="T88" fmla="*/ 43541306 w 21600"/>
              <a:gd name="T89" fmla="*/ 52337378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gradFill rotWithShape="0">
            <a:gsLst>
              <a:gs pos="0">
                <a:srgbClr val="999999"/>
              </a:gs>
              <a:gs pos="100000">
                <a:srgbClr val="EEEEEE"/>
              </a:gs>
            </a:gsLst>
            <a:lin ang="13500000" scaled="1"/>
          </a:gra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b="1">
                <a:solidFill>
                  <a:srgbClr val="00331A"/>
                </a:solidFill>
              </a:rPr>
              <a:t>    Senior Management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b="1">
                <a:solidFill>
                  <a:srgbClr val="00331A"/>
                </a:solidFill>
              </a:rPr>
              <a:t>Responsibility</a:t>
            </a:r>
          </a:p>
        </p:txBody>
      </p:sp>
      <p:sp>
        <p:nvSpPr>
          <p:cNvPr id="12294" name="Freeform 5">
            <a:extLst>
              <a:ext uri="{FF2B5EF4-FFF2-40B4-BE49-F238E27FC236}">
                <a16:creationId xmlns:a16="http://schemas.microsoft.com/office/drawing/2014/main" id="{53AB892B-0979-4660-B433-A9245CFD1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3" y="4248150"/>
            <a:ext cx="2087562" cy="1152525"/>
          </a:xfrm>
          <a:custGeom>
            <a:avLst/>
            <a:gdLst>
              <a:gd name="T0" fmla="*/ 18027258 w 21600"/>
              <a:gd name="T1" fmla="*/ 20384806 h 21600"/>
              <a:gd name="T2" fmla="*/ 49224519 w 21600"/>
              <a:gd name="T3" fmla="*/ 5608688 h 21600"/>
              <a:gd name="T4" fmla="*/ 65103424 w 21600"/>
              <a:gd name="T5" fmla="*/ 7402305 h 21600"/>
              <a:gd name="T6" fmla="*/ 87240472 w 21600"/>
              <a:gd name="T7" fmla="*/ 1850550 h 21600"/>
              <a:gd name="T8" fmla="*/ 104707278 w 21600"/>
              <a:gd name="T9" fmla="*/ 4839965 h 21600"/>
              <a:gd name="T10" fmla="*/ 122827896 w 21600"/>
              <a:gd name="T11" fmla="*/ 0 h 21600"/>
              <a:gd name="T12" fmla="*/ 138893618 w 21600"/>
              <a:gd name="T13" fmla="*/ 3302571 h 21600"/>
              <a:gd name="T14" fmla="*/ 156360423 w 21600"/>
              <a:gd name="T15" fmla="*/ 0 h 21600"/>
              <a:gd name="T16" fmla="*/ 178497375 w 21600"/>
              <a:gd name="T17" fmla="*/ 7715461 h 21600"/>
              <a:gd name="T18" fmla="*/ 196711450 w 21600"/>
              <a:gd name="T19" fmla="*/ 17708600 h 21600"/>
              <a:gd name="T20" fmla="*/ 194563098 w 21600"/>
              <a:gd name="T21" fmla="*/ 21808334 h 21600"/>
              <a:gd name="T22" fmla="*/ 201755329 w 21600"/>
              <a:gd name="T23" fmla="*/ 29780019 h 21600"/>
              <a:gd name="T24" fmla="*/ 174200767 w 21600"/>
              <a:gd name="T25" fmla="*/ 42734026 h 21600"/>
              <a:gd name="T26" fmla="*/ 147300114 w 21600"/>
              <a:gd name="T27" fmla="*/ 53865977 h 21600"/>
              <a:gd name="T28" fmla="*/ 133009109 w 21600"/>
              <a:gd name="T29" fmla="*/ 52129239 h 21600"/>
              <a:gd name="T30" fmla="*/ 102745742 w 21600"/>
              <a:gd name="T31" fmla="*/ 61496013 h 21600"/>
              <a:gd name="T32" fmla="*/ 76685720 w 21600"/>
              <a:gd name="T33" fmla="*/ 55545729 h 21600"/>
              <a:gd name="T34" fmla="*/ 58284828 w 21600"/>
              <a:gd name="T35" fmla="*/ 57766367 h 21600"/>
              <a:gd name="T36" fmla="*/ 27087567 w 21600"/>
              <a:gd name="T37" fmla="*/ 50221757 h 21600"/>
              <a:gd name="T38" fmla="*/ 4483426 w 21600"/>
              <a:gd name="T39" fmla="*/ 41737572 h 21600"/>
              <a:gd name="T40" fmla="*/ 9994396 w 21600"/>
              <a:gd name="T41" fmla="*/ 35986579 h 21600"/>
              <a:gd name="T42" fmla="*/ 0 w 21600"/>
              <a:gd name="T43" fmla="*/ 28812004 h 21600"/>
              <a:gd name="T44" fmla="*/ 18027258 w 21600"/>
              <a:gd name="T45" fmla="*/ 20384806 h 21600"/>
              <a:gd name="T46" fmla="*/ 18027258 w 21600"/>
              <a:gd name="T47" fmla="*/ 20384806 h 21600"/>
              <a:gd name="T48" fmla="*/ 19521701 w 21600"/>
              <a:gd name="T49" fmla="*/ 22548565 h 21600"/>
              <a:gd name="T50" fmla="*/ 65103424 w 21600"/>
              <a:gd name="T51" fmla="*/ 7402305 h 21600"/>
              <a:gd name="T52" fmla="*/ 71641842 w 21600"/>
              <a:gd name="T53" fmla="*/ 9423706 h 21600"/>
              <a:gd name="T54" fmla="*/ 104707278 w 21600"/>
              <a:gd name="T55" fmla="*/ 4839965 h 21600"/>
              <a:gd name="T56" fmla="*/ 103026017 w 21600"/>
              <a:gd name="T57" fmla="*/ 6832873 h 21600"/>
              <a:gd name="T58" fmla="*/ 138893618 w 21600"/>
              <a:gd name="T59" fmla="*/ 3302571 h 21600"/>
              <a:gd name="T60" fmla="*/ 135811178 w 21600"/>
              <a:gd name="T61" fmla="*/ 5722553 h 21600"/>
              <a:gd name="T62" fmla="*/ 178497375 w 21600"/>
              <a:gd name="T63" fmla="*/ 7715461 h 21600"/>
              <a:gd name="T64" fmla="*/ 179244645 w 21600"/>
              <a:gd name="T65" fmla="*/ 9622997 h 21600"/>
              <a:gd name="T66" fmla="*/ 194563098 w 21600"/>
              <a:gd name="T67" fmla="*/ 21808334 h 21600"/>
              <a:gd name="T68" fmla="*/ 187837959 w 21600"/>
              <a:gd name="T69" fmla="*/ 25594859 h 21600"/>
              <a:gd name="T70" fmla="*/ 174294224 w 21600"/>
              <a:gd name="T71" fmla="*/ 42734026 h 21600"/>
              <a:gd name="T72" fmla="*/ 158788954 w 21600"/>
              <a:gd name="T73" fmla="*/ 32598583 h 21600"/>
              <a:gd name="T74" fmla="*/ 133009109 w 21600"/>
              <a:gd name="T75" fmla="*/ 52129239 h 21600"/>
              <a:gd name="T76" fmla="*/ 134223375 w 21600"/>
              <a:gd name="T77" fmla="*/ 49424594 h 21600"/>
              <a:gd name="T78" fmla="*/ 76779081 w 21600"/>
              <a:gd name="T79" fmla="*/ 55545729 h 21600"/>
              <a:gd name="T80" fmla="*/ 73416560 w 21600"/>
              <a:gd name="T81" fmla="*/ 53068761 h 21600"/>
              <a:gd name="T82" fmla="*/ 27087567 w 21600"/>
              <a:gd name="T83" fmla="*/ 50221757 h 21600"/>
              <a:gd name="T84" fmla="*/ 32318263 w 21600"/>
              <a:gd name="T85" fmla="*/ 49680817 h 21600"/>
              <a:gd name="T86" fmla="*/ 9994396 w 21600"/>
              <a:gd name="T87" fmla="*/ 35986579 h 21600"/>
              <a:gd name="T88" fmla="*/ 21763414 w 21600"/>
              <a:gd name="T89" fmla="*/ 37125391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gradFill rotWithShape="0">
            <a:gsLst>
              <a:gs pos="0">
                <a:srgbClr val="999999"/>
              </a:gs>
              <a:gs pos="100000">
                <a:srgbClr val="EEEEEE"/>
              </a:gs>
            </a:gsLst>
            <a:lin ang="13500000" scaled="1"/>
          </a:gra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b="1">
                <a:solidFill>
                  <a:srgbClr val="00331A"/>
                </a:solidFill>
              </a:rPr>
              <a:t>Internal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b="1">
                <a:solidFill>
                  <a:srgbClr val="00331A"/>
                </a:solidFill>
              </a:rPr>
              <a:t>Controls</a:t>
            </a:r>
          </a:p>
        </p:txBody>
      </p:sp>
      <p:sp>
        <p:nvSpPr>
          <p:cNvPr id="12295" name="Freeform 6">
            <a:extLst>
              <a:ext uri="{FF2B5EF4-FFF2-40B4-BE49-F238E27FC236}">
                <a16:creationId xmlns:a16="http://schemas.microsoft.com/office/drawing/2014/main" id="{0D60D806-D61E-4AEE-B0BB-CC2A888BB29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199313" y="4032250"/>
            <a:ext cx="2232025" cy="1295400"/>
          </a:xfrm>
          <a:custGeom>
            <a:avLst/>
            <a:gdLst>
              <a:gd name="T0" fmla="*/ 20608617 w 21600"/>
              <a:gd name="T1" fmla="*/ 25752132 h 21600"/>
              <a:gd name="T2" fmla="*/ 56273174 w 21600"/>
              <a:gd name="T3" fmla="*/ 7085418 h 21600"/>
              <a:gd name="T4" fmla="*/ 74425737 w 21600"/>
              <a:gd name="T5" fmla="*/ 9351349 h 21600"/>
              <a:gd name="T6" fmla="*/ 99732664 w 21600"/>
              <a:gd name="T7" fmla="*/ 2337837 h 21600"/>
              <a:gd name="T8" fmla="*/ 119700607 w 21600"/>
              <a:gd name="T9" fmla="*/ 6114348 h 21600"/>
              <a:gd name="T10" fmla="*/ 140415969 w 21600"/>
              <a:gd name="T11" fmla="*/ 0 h 21600"/>
              <a:gd name="T12" fmla="*/ 158782125 w 21600"/>
              <a:gd name="T13" fmla="*/ 4172148 h 21600"/>
              <a:gd name="T14" fmla="*/ 178749965 w 21600"/>
              <a:gd name="T15" fmla="*/ 0 h 21600"/>
              <a:gd name="T16" fmla="*/ 204056892 w 21600"/>
              <a:gd name="T17" fmla="*/ 9746985 h 21600"/>
              <a:gd name="T18" fmla="*/ 224878999 w 21600"/>
              <a:gd name="T19" fmla="*/ 22371258 h 21600"/>
              <a:gd name="T20" fmla="*/ 222423048 w 21600"/>
              <a:gd name="T21" fmla="*/ 27550459 h 21600"/>
              <a:gd name="T22" fmla="*/ 230645167 w 21600"/>
              <a:gd name="T23" fmla="*/ 37621115 h 21600"/>
              <a:gd name="T24" fmla="*/ 199144991 w 21600"/>
              <a:gd name="T25" fmla="*/ 53985975 h 21600"/>
              <a:gd name="T26" fmla="*/ 168392336 w 21600"/>
              <a:gd name="T27" fmla="*/ 68048921 h 21600"/>
              <a:gd name="T28" fmla="*/ 152054946 w 21600"/>
              <a:gd name="T29" fmla="*/ 65854957 h 21600"/>
              <a:gd name="T30" fmla="*/ 117458146 w 21600"/>
              <a:gd name="T31" fmla="*/ 77688017 h 21600"/>
              <a:gd name="T32" fmla="*/ 87666502 w 21600"/>
              <a:gd name="T33" fmla="*/ 70170978 h 21600"/>
              <a:gd name="T34" fmla="*/ 66630803 w 21600"/>
              <a:gd name="T35" fmla="*/ 72976359 h 21600"/>
              <a:gd name="T36" fmla="*/ 30966247 w 21600"/>
              <a:gd name="T37" fmla="*/ 63445214 h 21600"/>
              <a:gd name="T38" fmla="*/ 5125494 w 21600"/>
              <a:gd name="T39" fmla="*/ 52727158 h 21600"/>
              <a:gd name="T40" fmla="*/ 11425488 w 21600"/>
              <a:gd name="T41" fmla="*/ 45461883 h 21600"/>
              <a:gd name="T42" fmla="*/ 0 w 21600"/>
              <a:gd name="T43" fmla="*/ 36398281 h 21600"/>
              <a:gd name="T44" fmla="*/ 20608617 w 21600"/>
              <a:gd name="T45" fmla="*/ 25752132 h 21600"/>
              <a:gd name="T46" fmla="*/ 20608617 w 21600"/>
              <a:gd name="T47" fmla="*/ 25752132 h 21600"/>
              <a:gd name="T48" fmla="*/ 22317047 w 21600"/>
              <a:gd name="T49" fmla="*/ 28485606 h 21600"/>
              <a:gd name="T50" fmla="*/ 74425737 w 21600"/>
              <a:gd name="T51" fmla="*/ 9351349 h 21600"/>
              <a:gd name="T52" fmla="*/ 81900437 w 21600"/>
              <a:gd name="T53" fmla="*/ 11904966 h 21600"/>
              <a:gd name="T54" fmla="*/ 119700607 w 21600"/>
              <a:gd name="T55" fmla="*/ 6114348 h 21600"/>
              <a:gd name="T56" fmla="*/ 117778483 w 21600"/>
              <a:gd name="T57" fmla="*/ 8631982 h 21600"/>
              <a:gd name="T58" fmla="*/ 158782125 w 21600"/>
              <a:gd name="T59" fmla="*/ 4172148 h 21600"/>
              <a:gd name="T60" fmla="*/ 155258316 w 21600"/>
              <a:gd name="T61" fmla="*/ 7229292 h 21600"/>
              <a:gd name="T62" fmla="*/ 204056892 w 21600"/>
              <a:gd name="T63" fmla="*/ 9746985 h 21600"/>
              <a:gd name="T64" fmla="*/ 204911158 w 21600"/>
              <a:gd name="T65" fmla="*/ 12156729 h 21600"/>
              <a:gd name="T66" fmla="*/ 222423048 w 21600"/>
              <a:gd name="T67" fmla="*/ 27550459 h 21600"/>
              <a:gd name="T68" fmla="*/ 214734962 w 21600"/>
              <a:gd name="T69" fmla="*/ 32334024 h 21600"/>
              <a:gd name="T70" fmla="*/ 199251838 w 21600"/>
              <a:gd name="T71" fmla="*/ 53985975 h 21600"/>
              <a:gd name="T72" fmla="*/ 181526253 w 21600"/>
              <a:gd name="T73" fmla="*/ 41181846 h 21600"/>
              <a:gd name="T74" fmla="*/ 152054946 w 21600"/>
              <a:gd name="T75" fmla="*/ 65854957 h 21600"/>
              <a:gd name="T76" fmla="*/ 153443142 w 21600"/>
              <a:gd name="T77" fmla="*/ 62438160 h 21600"/>
              <a:gd name="T78" fmla="*/ 87773350 w 21600"/>
              <a:gd name="T79" fmla="*/ 70170978 h 21600"/>
              <a:gd name="T80" fmla="*/ 83929203 w 21600"/>
              <a:gd name="T81" fmla="*/ 67041868 h 21600"/>
              <a:gd name="T82" fmla="*/ 30966247 w 21600"/>
              <a:gd name="T83" fmla="*/ 63445214 h 21600"/>
              <a:gd name="T84" fmla="*/ 36945904 w 21600"/>
              <a:gd name="T85" fmla="*/ 62761830 h 21600"/>
              <a:gd name="T86" fmla="*/ 11425488 w 21600"/>
              <a:gd name="T87" fmla="*/ 45461883 h 21600"/>
              <a:gd name="T88" fmla="*/ 24879742 w 21600"/>
              <a:gd name="T89" fmla="*/ 46900557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gradFill rotWithShape="0">
            <a:gsLst>
              <a:gs pos="0">
                <a:srgbClr val="999999"/>
              </a:gs>
              <a:gs pos="100000">
                <a:srgbClr val="EEEEEE"/>
              </a:gs>
            </a:gsLst>
            <a:lin ang="13500000" scaled="1"/>
          </a:gra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b="1">
                <a:solidFill>
                  <a:srgbClr val="00331A"/>
                </a:solidFill>
              </a:rPr>
              <a:t>Risk-Based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b="1">
                <a:solidFill>
                  <a:srgbClr val="00331A"/>
                </a:solidFill>
              </a:rPr>
              <a:t>Approach</a:t>
            </a:r>
          </a:p>
        </p:txBody>
      </p:sp>
      <p:sp>
        <p:nvSpPr>
          <p:cNvPr id="12296" name="Freeform 7">
            <a:extLst>
              <a:ext uri="{FF2B5EF4-FFF2-40B4-BE49-F238E27FC236}">
                <a16:creationId xmlns:a16="http://schemas.microsoft.com/office/drawing/2014/main" id="{9736B382-B293-4A06-BE69-E4F2EFA54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6138" y="5688013"/>
            <a:ext cx="3168650" cy="1368425"/>
          </a:xfrm>
          <a:custGeom>
            <a:avLst/>
            <a:gdLst>
              <a:gd name="T0" fmla="*/ 41533520 w 21600"/>
              <a:gd name="T1" fmla="*/ 28737432 h 21600"/>
              <a:gd name="T2" fmla="*/ 113410091 w 21600"/>
              <a:gd name="T3" fmla="*/ 7906772 h 21600"/>
              <a:gd name="T4" fmla="*/ 149993916 w 21600"/>
              <a:gd name="T5" fmla="*/ 10435381 h 21600"/>
              <a:gd name="T6" fmla="*/ 200996271 w 21600"/>
              <a:gd name="T7" fmla="*/ 2608814 h 21600"/>
              <a:gd name="T8" fmla="*/ 241238566 w 21600"/>
              <a:gd name="T9" fmla="*/ 6823119 h 21600"/>
              <a:gd name="T10" fmla="*/ 282987144 w 21600"/>
              <a:gd name="T11" fmla="*/ 0 h 21600"/>
              <a:gd name="T12" fmla="*/ 320001523 w 21600"/>
              <a:gd name="T13" fmla="*/ 4655749 h 21600"/>
              <a:gd name="T14" fmla="*/ 360243819 w 21600"/>
              <a:gd name="T15" fmla="*/ 0 h 21600"/>
              <a:gd name="T16" fmla="*/ 411246027 w 21600"/>
              <a:gd name="T17" fmla="*/ 10876888 h 21600"/>
              <a:gd name="T18" fmla="*/ 453209956 w 21600"/>
              <a:gd name="T19" fmla="*/ 24964633 h 21600"/>
              <a:gd name="T20" fmla="*/ 448260260 w 21600"/>
              <a:gd name="T21" fmla="*/ 30744202 h 21600"/>
              <a:gd name="T22" fmla="*/ 464830686 w 21600"/>
              <a:gd name="T23" fmla="*/ 41982265 h 21600"/>
              <a:gd name="T24" fmla="*/ 401346930 w 21600"/>
              <a:gd name="T25" fmla="*/ 60244214 h 21600"/>
              <a:gd name="T26" fmla="*/ 339369456 w 21600"/>
              <a:gd name="T27" fmla="*/ 75937388 h 21600"/>
              <a:gd name="T28" fmla="*/ 306443956 w 21600"/>
              <a:gd name="T29" fmla="*/ 73489111 h 21600"/>
              <a:gd name="T30" fmla="*/ 236719279 w 21600"/>
              <a:gd name="T31" fmla="*/ 86693842 h 21600"/>
              <a:gd name="T32" fmla="*/ 176678643 w 21600"/>
              <a:gd name="T33" fmla="*/ 78305396 h 21600"/>
              <a:gd name="T34" fmla="*/ 134284453 w 21600"/>
              <a:gd name="T35" fmla="*/ 81436049 h 21600"/>
              <a:gd name="T36" fmla="*/ 62407882 w 21600"/>
              <a:gd name="T37" fmla="*/ 70799965 h 21600"/>
              <a:gd name="T38" fmla="*/ 10329506 w 21600"/>
              <a:gd name="T39" fmla="*/ 58839424 h 21600"/>
              <a:gd name="T40" fmla="*/ 23026404 w 21600"/>
              <a:gd name="T41" fmla="*/ 50731949 h 21600"/>
              <a:gd name="T42" fmla="*/ 0 w 21600"/>
              <a:gd name="T43" fmla="*/ 40617642 h 21600"/>
              <a:gd name="T44" fmla="*/ 41533520 w 21600"/>
              <a:gd name="T45" fmla="*/ 28737432 h 21600"/>
              <a:gd name="T46" fmla="*/ 41533520 w 21600"/>
              <a:gd name="T47" fmla="*/ 28737432 h 21600"/>
              <a:gd name="T48" fmla="*/ 44976640 w 21600"/>
              <a:gd name="T49" fmla="*/ 31787753 h 21600"/>
              <a:gd name="T50" fmla="*/ 149993916 w 21600"/>
              <a:gd name="T51" fmla="*/ 10435381 h 21600"/>
              <a:gd name="T52" fmla="*/ 165057912 w 21600"/>
              <a:gd name="T53" fmla="*/ 13284999 h 21600"/>
              <a:gd name="T54" fmla="*/ 241238566 w 21600"/>
              <a:gd name="T55" fmla="*/ 6823119 h 21600"/>
              <a:gd name="T56" fmla="*/ 237364892 w 21600"/>
              <a:gd name="T57" fmla="*/ 9632635 h 21600"/>
              <a:gd name="T58" fmla="*/ 320001523 w 21600"/>
              <a:gd name="T59" fmla="*/ 4655749 h 21600"/>
              <a:gd name="T60" fmla="*/ 312899933 w 21600"/>
              <a:gd name="T61" fmla="*/ 8067372 h 21600"/>
              <a:gd name="T62" fmla="*/ 411246027 w 21600"/>
              <a:gd name="T63" fmla="*/ 10876888 h 21600"/>
              <a:gd name="T64" fmla="*/ 412967661 w 21600"/>
              <a:gd name="T65" fmla="*/ 13565970 h 21600"/>
              <a:gd name="T66" fmla="*/ 448260260 w 21600"/>
              <a:gd name="T67" fmla="*/ 30744202 h 21600"/>
              <a:gd name="T68" fmla="*/ 432766002 w 21600"/>
              <a:gd name="T69" fmla="*/ 36082326 h 21600"/>
              <a:gd name="T70" fmla="*/ 401562134 w 21600"/>
              <a:gd name="T71" fmla="*/ 60244214 h 21600"/>
              <a:gd name="T72" fmla="*/ 365838980 w 21600"/>
              <a:gd name="T73" fmla="*/ 45955766 h 21600"/>
              <a:gd name="T74" fmla="*/ 306443956 w 21600"/>
              <a:gd name="T75" fmla="*/ 73489111 h 21600"/>
              <a:gd name="T76" fmla="*/ 309241463 w 21600"/>
              <a:gd name="T77" fmla="*/ 69676146 h 21600"/>
              <a:gd name="T78" fmla="*/ 176893847 w 21600"/>
              <a:gd name="T79" fmla="*/ 78305396 h 21600"/>
              <a:gd name="T80" fmla="*/ 169146791 w 21600"/>
              <a:gd name="T81" fmla="*/ 74813569 h 21600"/>
              <a:gd name="T82" fmla="*/ 62407882 w 21600"/>
              <a:gd name="T83" fmla="*/ 70799965 h 21600"/>
              <a:gd name="T84" fmla="*/ 74459021 w 21600"/>
              <a:gd name="T85" fmla="*/ 70037385 h 21600"/>
              <a:gd name="T86" fmla="*/ 23026404 w 21600"/>
              <a:gd name="T87" fmla="*/ 50731949 h 21600"/>
              <a:gd name="T88" fmla="*/ 50141392 w 21600"/>
              <a:gd name="T89" fmla="*/ 52337378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gradFill rotWithShape="0">
            <a:gsLst>
              <a:gs pos="0">
                <a:srgbClr val="999999"/>
              </a:gs>
              <a:gs pos="100000">
                <a:srgbClr val="EEEEEE"/>
              </a:gs>
            </a:gsLst>
            <a:lin ang="13500000" scaled="1"/>
          </a:gra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b="1">
                <a:solidFill>
                  <a:srgbClr val="00331A"/>
                </a:solidFill>
              </a:rPr>
              <a:t>    Money Laundering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b="1">
                <a:solidFill>
                  <a:srgbClr val="00331A"/>
                </a:solidFill>
              </a:rPr>
              <a:t>   Reporting Officer</a:t>
            </a:r>
          </a:p>
        </p:txBody>
      </p:sp>
      <p:sp>
        <p:nvSpPr>
          <p:cNvPr id="12297" name="Freeform 8">
            <a:extLst>
              <a:ext uri="{FF2B5EF4-FFF2-40B4-BE49-F238E27FC236}">
                <a16:creationId xmlns:a16="http://schemas.microsoft.com/office/drawing/2014/main" id="{F832FBF4-A7C6-4DA4-BE57-F835FB86C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25" y="5616575"/>
            <a:ext cx="1655763" cy="1008063"/>
          </a:xfrm>
          <a:custGeom>
            <a:avLst/>
            <a:gdLst>
              <a:gd name="T0" fmla="*/ 11340827 w 21600"/>
              <a:gd name="T1" fmla="*/ 15594828 h 21600"/>
              <a:gd name="T2" fmla="*/ 30967061 w 21600"/>
              <a:gd name="T3" fmla="*/ 4290755 h 21600"/>
              <a:gd name="T4" fmla="*/ 40956371 w 21600"/>
              <a:gd name="T5" fmla="*/ 5662934 h 21600"/>
              <a:gd name="T6" fmla="*/ 54882718 w 21600"/>
              <a:gd name="T7" fmla="*/ 1415722 h 21600"/>
              <a:gd name="T8" fmla="*/ 65871005 w 21600"/>
              <a:gd name="T9" fmla="*/ 3702671 h 21600"/>
              <a:gd name="T10" fmla="*/ 77270626 w 21600"/>
              <a:gd name="T11" fmla="*/ 0 h 21600"/>
              <a:gd name="T12" fmla="*/ 87377526 w 21600"/>
              <a:gd name="T13" fmla="*/ 2526551 h 21600"/>
              <a:gd name="T14" fmla="*/ 98365814 w 21600"/>
              <a:gd name="T15" fmla="*/ 0 h 21600"/>
              <a:gd name="T16" fmla="*/ 112292160 w 21600"/>
              <a:gd name="T17" fmla="*/ 5902536 h 21600"/>
              <a:gd name="T18" fmla="*/ 123750577 w 21600"/>
              <a:gd name="T19" fmla="*/ 13547480 h 21600"/>
              <a:gd name="T20" fmla="*/ 122399060 w 21600"/>
              <a:gd name="T21" fmla="*/ 16683863 h 21600"/>
              <a:gd name="T22" fmla="*/ 126923663 w 21600"/>
              <a:gd name="T23" fmla="*/ 22782410 h 21600"/>
              <a:gd name="T24" fmla="*/ 109589204 w 21600"/>
              <a:gd name="T25" fmla="*/ 32692510 h 21600"/>
              <a:gd name="T26" fmla="*/ 92666003 w 21600"/>
              <a:gd name="T27" fmla="*/ 41208729 h 21600"/>
              <a:gd name="T28" fmla="*/ 83675593 w 21600"/>
              <a:gd name="T29" fmla="*/ 39880092 h 21600"/>
              <a:gd name="T30" fmla="*/ 64637078 w 21600"/>
              <a:gd name="T31" fmla="*/ 47045880 h 21600"/>
              <a:gd name="T32" fmla="*/ 48242725 w 21600"/>
              <a:gd name="T33" fmla="*/ 42493776 h 21600"/>
              <a:gd name="T34" fmla="*/ 36666872 w 21600"/>
              <a:gd name="T35" fmla="*/ 44192642 h 21600"/>
              <a:gd name="T36" fmla="*/ 17040714 w 21600"/>
              <a:gd name="T37" fmla="*/ 38420781 h 21600"/>
              <a:gd name="T38" fmla="*/ 2820546 w 21600"/>
              <a:gd name="T39" fmla="*/ 31930209 h 21600"/>
              <a:gd name="T40" fmla="*/ 6287453 w 21600"/>
              <a:gd name="T41" fmla="*/ 27530574 h 21600"/>
              <a:gd name="T42" fmla="*/ 0 w 21600"/>
              <a:gd name="T43" fmla="*/ 22041858 h 21600"/>
              <a:gd name="T44" fmla="*/ 11340827 w 21600"/>
              <a:gd name="T45" fmla="*/ 15594828 h 21600"/>
              <a:gd name="T46" fmla="*/ 11340827 w 21600"/>
              <a:gd name="T47" fmla="*/ 15594828 h 21600"/>
              <a:gd name="T48" fmla="*/ 12281009 w 21600"/>
              <a:gd name="T49" fmla="*/ 17250151 h 21600"/>
              <a:gd name="T50" fmla="*/ 40956371 w 21600"/>
              <a:gd name="T51" fmla="*/ 5662934 h 21600"/>
              <a:gd name="T52" fmla="*/ 45069639 w 21600"/>
              <a:gd name="T53" fmla="*/ 7209331 h 21600"/>
              <a:gd name="T54" fmla="*/ 65871005 w 21600"/>
              <a:gd name="T55" fmla="*/ 3702671 h 21600"/>
              <a:gd name="T56" fmla="*/ 64813310 w 21600"/>
              <a:gd name="T57" fmla="*/ 5227320 h 21600"/>
              <a:gd name="T58" fmla="*/ 87377526 w 21600"/>
              <a:gd name="T59" fmla="*/ 2526551 h 21600"/>
              <a:gd name="T60" fmla="*/ 85438444 w 21600"/>
              <a:gd name="T61" fmla="*/ 4377887 h 21600"/>
              <a:gd name="T62" fmla="*/ 112292160 w 21600"/>
              <a:gd name="T63" fmla="*/ 5902536 h 21600"/>
              <a:gd name="T64" fmla="*/ 112762290 w 21600"/>
              <a:gd name="T65" fmla="*/ 7361800 h 21600"/>
              <a:gd name="T66" fmla="*/ 122399060 w 21600"/>
              <a:gd name="T67" fmla="*/ 16683863 h 21600"/>
              <a:gd name="T68" fmla="*/ 118168279 w 21600"/>
              <a:gd name="T69" fmla="*/ 19580690 h 21600"/>
              <a:gd name="T70" fmla="*/ 109647922 w 21600"/>
              <a:gd name="T71" fmla="*/ 32692510 h 21600"/>
              <a:gd name="T72" fmla="*/ 99893638 w 21600"/>
              <a:gd name="T73" fmla="*/ 24938685 h 21600"/>
              <a:gd name="T74" fmla="*/ 83675593 w 21600"/>
              <a:gd name="T75" fmla="*/ 39880092 h 21600"/>
              <a:gd name="T76" fmla="*/ 84439467 w 21600"/>
              <a:gd name="T77" fmla="*/ 37810950 h 21600"/>
              <a:gd name="T78" fmla="*/ 48301520 w 21600"/>
              <a:gd name="T79" fmla="*/ 42493776 h 21600"/>
              <a:gd name="T80" fmla="*/ 46186129 w 21600"/>
              <a:gd name="T81" fmla="*/ 40598851 h 21600"/>
              <a:gd name="T82" fmla="*/ 17040714 w 21600"/>
              <a:gd name="T83" fmla="*/ 38420781 h 21600"/>
              <a:gd name="T84" fmla="*/ 20331313 w 21600"/>
              <a:gd name="T85" fmla="*/ 38006962 h 21600"/>
              <a:gd name="T86" fmla="*/ 6287453 w 21600"/>
              <a:gd name="T87" fmla="*/ 27530574 h 21600"/>
              <a:gd name="T88" fmla="*/ 13691320 w 21600"/>
              <a:gd name="T89" fmla="*/ 28401755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gradFill rotWithShape="0">
            <a:gsLst>
              <a:gs pos="0">
                <a:srgbClr val="999999"/>
              </a:gs>
              <a:gs pos="100000">
                <a:srgbClr val="EEEEEE"/>
              </a:gs>
            </a:gsLst>
            <a:lin ang="13500000" scaled="1"/>
          </a:gra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b="1">
                <a:solidFill>
                  <a:srgbClr val="00331A"/>
                </a:solidFill>
              </a:rPr>
              <a:t>Training</a:t>
            </a:r>
          </a:p>
        </p:txBody>
      </p:sp>
      <p:sp>
        <p:nvSpPr>
          <p:cNvPr id="12298" name="Freeform 9">
            <a:extLst>
              <a:ext uri="{FF2B5EF4-FFF2-40B4-BE49-F238E27FC236}">
                <a16:creationId xmlns:a16="http://schemas.microsoft.com/office/drawing/2014/main" id="{4C5F77E9-69C1-4565-BAAC-25B5C825934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952750" y="5903913"/>
            <a:ext cx="2303463" cy="1295400"/>
          </a:xfrm>
          <a:custGeom>
            <a:avLst/>
            <a:gdLst>
              <a:gd name="T0" fmla="*/ 21948910 w 21600"/>
              <a:gd name="T1" fmla="*/ 25752132 h 21600"/>
              <a:gd name="T2" fmla="*/ 59932908 w 21600"/>
              <a:gd name="T3" fmla="*/ 7085418 h 21600"/>
              <a:gd name="T4" fmla="*/ 79266108 w 21600"/>
              <a:gd name="T5" fmla="*/ 9351349 h 21600"/>
              <a:gd name="T6" fmla="*/ 106218864 w 21600"/>
              <a:gd name="T7" fmla="*/ 2337837 h 21600"/>
              <a:gd name="T8" fmla="*/ 127485480 w 21600"/>
              <a:gd name="T9" fmla="*/ 6114348 h 21600"/>
              <a:gd name="T10" fmla="*/ 149548070 w 21600"/>
              <a:gd name="T11" fmla="*/ 0 h 21600"/>
              <a:gd name="T12" fmla="*/ 169108736 w 21600"/>
              <a:gd name="T13" fmla="*/ 4172148 h 21600"/>
              <a:gd name="T14" fmla="*/ 190375245 w 21600"/>
              <a:gd name="T15" fmla="*/ 0 h 21600"/>
              <a:gd name="T16" fmla="*/ 217328002 w 21600"/>
              <a:gd name="T17" fmla="*/ 9746985 h 21600"/>
              <a:gd name="T18" fmla="*/ 239504272 w 21600"/>
              <a:gd name="T19" fmla="*/ 22371258 h 21600"/>
              <a:gd name="T20" fmla="*/ 236888668 w 21600"/>
              <a:gd name="T21" fmla="*/ 27550459 h 21600"/>
              <a:gd name="T22" fmla="*/ 245645453 w 21600"/>
              <a:gd name="T23" fmla="*/ 37621115 h 21600"/>
              <a:gd name="T24" fmla="*/ 212096688 w 21600"/>
              <a:gd name="T25" fmla="*/ 53985975 h 21600"/>
              <a:gd name="T26" fmla="*/ 179343897 w 21600"/>
              <a:gd name="T27" fmla="*/ 68048921 h 21600"/>
              <a:gd name="T28" fmla="*/ 161944006 w 21600"/>
              <a:gd name="T29" fmla="*/ 65854957 h 21600"/>
              <a:gd name="T30" fmla="*/ 125097236 w 21600"/>
              <a:gd name="T31" fmla="*/ 77688017 h 21600"/>
              <a:gd name="T32" fmla="*/ 93367993 w 21600"/>
              <a:gd name="T33" fmla="*/ 70170978 h 21600"/>
              <a:gd name="T34" fmla="*/ 70964256 w 21600"/>
              <a:gd name="T35" fmla="*/ 72976359 h 21600"/>
              <a:gd name="T36" fmla="*/ 32980151 w 21600"/>
              <a:gd name="T37" fmla="*/ 63445214 h 21600"/>
              <a:gd name="T38" fmla="*/ 5458781 w 21600"/>
              <a:gd name="T39" fmla="*/ 52727158 h 21600"/>
              <a:gd name="T40" fmla="*/ 12168577 w 21600"/>
              <a:gd name="T41" fmla="*/ 45461883 h 21600"/>
              <a:gd name="T42" fmla="*/ 0 w 21600"/>
              <a:gd name="T43" fmla="*/ 36398281 h 21600"/>
              <a:gd name="T44" fmla="*/ 21948910 w 21600"/>
              <a:gd name="T45" fmla="*/ 25752132 h 21600"/>
              <a:gd name="T46" fmla="*/ 21948910 w 21600"/>
              <a:gd name="T47" fmla="*/ 25752132 h 21600"/>
              <a:gd name="T48" fmla="*/ 23768432 w 21600"/>
              <a:gd name="T49" fmla="*/ 28485606 h 21600"/>
              <a:gd name="T50" fmla="*/ 79266108 w 21600"/>
              <a:gd name="T51" fmla="*/ 9351349 h 21600"/>
              <a:gd name="T52" fmla="*/ 87226918 w 21600"/>
              <a:gd name="T53" fmla="*/ 11904966 h 21600"/>
              <a:gd name="T54" fmla="*/ 127485480 w 21600"/>
              <a:gd name="T55" fmla="*/ 6114348 h 21600"/>
              <a:gd name="T56" fmla="*/ 125438384 w 21600"/>
              <a:gd name="T57" fmla="*/ 8631982 h 21600"/>
              <a:gd name="T58" fmla="*/ 169108736 w 21600"/>
              <a:gd name="T59" fmla="*/ 4172148 h 21600"/>
              <a:gd name="T60" fmla="*/ 165355798 w 21600"/>
              <a:gd name="T61" fmla="*/ 7229292 h 21600"/>
              <a:gd name="T62" fmla="*/ 217328002 w 21600"/>
              <a:gd name="T63" fmla="*/ 9746985 h 21600"/>
              <a:gd name="T64" fmla="*/ 218237763 w 21600"/>
              <a:gd name="T65" fmla="*/ 12156729 h 21600"/>
              <a:gd name="T66" fmla="*/ 236888668 w 21600"/>
              <a:gd name="T67" fmla="*/ 27550459 h 21600"/>
              <a:gd name="T68" fmla="*/ 228700497 w 21600"/>
              <a:gd name="T69" fmla="*/ 32334024 h 21600"/>
              <a:gd name="T70" fmla="*/ 212210368 w 21600"/>
              <a:gd name="T71" fmla="*/ 53985975 h 21600"/>
              <a:gd name="T72" fmla="*/ 193332102 w 21600"/>
              <a:gd name="T73" fmla="*/ 41181846 h 21600"/>
              <a:gd name="T74" fmla="*/ 161944006 w 21600"/>
              <a:gd name="T75" fmla="*/ 65854957 h 21600"/>
              <a:gd name="T76" fmla="*/ 163422488 w 21600"/>
              <a:gd name="T77" fmla="*/ 62438160 h 21600"/>
              <a:gd name="T78" fmla="*/ 93481780 w 21600"/>
              <a:gd name="T79" fmla="*/ 70170978 h 21600"/>
              <a:gd name="T80" fmla="*/ 89387695 w 21600"/>
              <a:gd name="T81" fmla="*/ 67041868 h 21600"/>
              <a:gd name="T82" fmla="*/ 32980151 w 21600"/>
              <a:gd name="T83" fmla="*/ 63445214 h 21600"/>
              <a:gd name="T84" fmla="*/ 39348800 w 21600"/>
              <a:gd name="T85" fmla="*/ 62761830 h 21600"/>
              <a:gd name="T86" fmla="*/ 12168577 w 21600"/>
              <a:gd name="T87" fmla="*/ 45461883 h 21600"/>
              <a:gd name="T88" fmla="*/ 26497823 w 21600"/>
              <a:gd name="T89" fmla="*/ 46900557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gradFill rotWithShape="0">
            <a:gsLst>
              <a:gs pos="0">
                <a:srgbClr val="999999"/>
              </a:gs>
              <a:gs pos="100000">
                <a:srgbClr val="EEEEEE"/>
              </a:gs>
            </a:gsLst>
            <a:lin ang="13500000" scaled="1"/>
          </a:gra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b="1">
                <a:solidFill>
                  <a:srgbClr val="00331A"/>
                </a:solidFill>
              </a:rPr>
              <a:t>Customer Due  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b="1">
                <a:solidFill>
                  <a:srgbClr val="00331A"/>
                </a:solidFill>
              </a:rPr>
              <a:t>Diligence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>
            <a:extLst>
              <a:ext uri="{FF2B5EF4-FFF2-40B4-BE49-F238E27FC236}">
                <a16:creationId xmlns:a16="http://schemas.microsoft.com/office/drawing/2014/main" id="{5D0A30DE-5D48-470B-9CA6-A9BF4D41B3C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Financial Action Task Force (FATF)</a:t>
            </a:r>
          </a:p>
        </p:txBody>
      </p:sp>
      <p:sp>
        <p:nvSpPr>
          <p:cNvPr id="14339" name="Text Box 2">
            <a:extLst>
              <a:ext uri="{FF2B5EF4-FFF2-40B4-BE49-F238E27FC236}">
                <a16:creationId xmlns:a16="http://schemas.microsoft.com/office/drawing/2014/main" id="{4F6EDF62-DC89-4CFD-8BF1-CD3D3F417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025" y="6696075"/>
            <a:ext cx="5975350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3000" b="1" u="sng">
                <a:solidFill>
                  <a:srgbClr val="CCFF99"/>
                </a:solidFill>
              </a:rPr>
              <a:t>40 + 9 </a:t>
            </a:r>
            <a:r>
              <a:rPr lang="en-GB" altLang="en-US" sz="3000" u="sng">
                <a:solidFill>
                  <a:srgbClr val="CCFF99"/>
                </a:solidFill>
              </a:rPr>
              <a:t>Special Recommendations</a:t>
            </a:r>
          </a:p>
        </p:txBody>
      </p:sp>
      <p:sp>
        <p:nvSpPr>
          <p:cNvPr id="14340" name="AutoShape 3">
            <a:extLst>
              <a:ext uri="{FF2B5EF4-FFF2-40B4-BE49-F238E27FC236}">
                <a16:creationId xmlns:a16="http://schemas.microsoft.com/office/drawing/2014/main" id="{9CC92689-B08B-4CF8-9FB8-00E1794D6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763" y="1511300"/>
            <a:ext cx="6983412" cy="2222500"/>
          </a:xfrm>
          <a:prstGeom prst="cloudCallout">
            <a:avLst>
              <a:gd name="adj1" fmla="val -67639"/>
              <a:gd name="adj2" fmla="val 90806"/>
            </a:avLst>
          </a:prstGeom>
          <a:solidFill>
            <a:srgbClr val="FFFF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2240C861-E664-4877-86DA-50B42B5D1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463" y="1820863"/>
            <a:ext cx="5759450" cy="156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600">
                <a:solidFill>
                  <a:srgbClr val="006600"/>
                </a:solidFill>
              </a:rPr>
              <a:t>  An independent intergovernmental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600">
                <a:solidFill>
                  <a:srgbClr val="006600"/>
                </a:solidFill>
              </a:rPr>
              <a:t>organisation that develops polices to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600">
                <a:solidFill>
                  <a:srgbClr val="006600"/>
                </a:solidFill>
              </a:rPr>
              <a:t>combat money laundering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600">
                <a:solidFill>
                  <a:srgbClr val="006600"/>
                </a:solidFill>
              </a:rPr>
              <a:t>&amp; terrorist financing.</a:t>
            </a:r>
          </a:p>
        </p:txBody>
      </p:sp>
      <p:sp>
        <p:nvSpPr>
          <p:cNvPr id="14342" name="Text Box 5">
            <a:extLst>
              <a:ext uri="{FF2B5EF4-FFF2-40B4-BE49-F238E27FC236}">
                <a16:creationId xmlns:a16="http://schemas.microsoft.com/office/drawing/2014/main" id="{E2F4BB46-3282-4EC0-9223-DA910AB9C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3" y="4413250"/>
            <a:ext cx="9871075" cy="76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>
                <a:solidFill>
                  <a:srgbClr val="FFFFFF"/>
                </a:solidFill>
              </a:rPr>
              <a:t>FATF was established by the G8 Summit in Paris in 1989 as a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>
                <a:solidFill>
                  <a:srgbClr val="FFFFFF"/>
                </a:solidFill>
              </a:rPr>
              <a:t>response to the growing concern over global money laundering threats. </a:t>
            </a:r>
          </a:p>
        </p:txBody>
      </p:sp>
      <p:sp>
        <p:nvSpPr>
          <p:cNvPr id="14343" name="AutoShape 6">
            <a:extLst>
              <a:ext uri="{FF2B5EF4-FFF2-40B4-BE49-F238E27FC236}">
                <a16:creationId xmlns:a16="http://schemas.microsoft.com/office/drawing/2014/main" id="{7ECC3E38-6D86-49A3-9B83-6108EEF76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525" y="5543550"/>
            <a:ext cx="3527425" cy="863600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4000" i="1">
                <a:solidFill>
                  <a:srgbClr val="FFFFFF"/>
                </a:solidFill>
              </a:rPr>
              <a:t>34 Members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>
            <a:extLst>
              <a:ext uri="{FF2B5EF4-FFF2-40B4-BE49-F238E27FC236}">
                <a16:creationId xmlns:a16="http://schemas.microsoft.com/office/drawing/2014/main" id="{C36F6F38-4FAC-4184-9E80-0A597809D86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4000">
                <a:solidFill>
                  <a:srgbClr val="FFFFFF"/>
                </a:solidFill>
                <a:latin typeface="Verdana" panose="020B0604030504040204" pitchFamily="34" charset="0"/>
              </a:rPr>
              <a:t>The Money Laundering Process</a:t>
            </a:r>
          </a:p>
        </p:txBody>
      </p:sp>
      <p:sp>
        <p:nvSpPr>
          <p:cNvPr id="16387" name="AutoShape 2">
            <a:extLst>
              <a:ext uri="{FF2B5EF4-FFF2-40B4-BE49-F238E27FC236}">
                <a16:creationId xmlns:a16="http://schemas.microsoft.com/office/drawing/2014/main" id="{B249A740-E241-4846-8E99-A2F9D1FE9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8" y="1655763"/>
            <a:ext cx="2320925" cy="850900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 b="1">
                <a:solidFill>
                  <a:srgbClr val="FFFFFF"/>
                </a:solidFill>
              </a:rPr>
              <a:t>Placement</a:t>
            </a:r>
          </a:p>
        </p:txBody>
      </p:sp>
      <p:sp>
        <p:nvSpPr>
          <p:cNvPr id="16388" name="AutoShape 3">
            <a:extLst>
              <a:ext uri="{FF2B5EF4-FFF2-40B4-BE49-F238E27FC236}">
                <a16:creationId xmlns:a16="http://schemas.microsoft.com/office/drawing/2014/main" id="{334BCE23-F541-4505-8D64-58CAAFC33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8" y="3506788"/>
            <a:ext cx="2320925" cy="850900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 b="1">
                <a:solidFill>
                  <a:srgbClr val="FFFFFF"/>
                </a:solidFill>
              </a:rPr>
              <a:t>Layering</a:t>
            </a:r>
          </a:p>
        </p:txBody>
      </p:sp>
      <p:sp>
        <p:nvSpPr>
          <p:cNvPr id="16389" name="AutoShape 4">
            <a:extLst>
              <a:ext uri="{FF2B5EF4-FFF2-40B4-BE49-F238E27FC236}">
                <a16:creationId xmlns:a16="http://schemas.microsoft.com/office/drawing/2014/main" id="{37EEDD9D-5B13-4322-A93B-2C82EE834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8" y="5340350"/>
            <a:ext cx="2320925" cy="850900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 b="1">
                <a:solidFill>
                  <a:srgbClr val="FFFFFF"/>
                </a:solidFill>
              </a:rPr>
              <a:t>Integration</a:t>
            </a:r>
          </a:p>
        </p:txBody>
      </p:sp>
      <p:sp>
        <p:nvSpPr>
          <p:cNvPr id="16390" name="Text Box 5">
            <a:extLst>
              <a:ext uri="{FF2B5EF4-FFF2-40B4-BE49-F238E27FC236}">
                <a16:creationId xmlns:a16="http://schemas.microsoft.com/office/drawing/2014/main" id="{5EBCE9CE-BCB7-477F-B256-84B6A5CF1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1163" y="2163763"/>
            <a:ext cx="6911975" cy="1220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lnSpc>
                <a:spcPct val="101000"/>
              </a:lnSpc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The Proceeds of Crime Act 2002 (POCA)</a:t>
            </a:r>
          </a:p>
          <a:p>
            <a:pPr algn="ctr" eaLnBrk="1">
              <a:lnSpc>
                <a:spcPct val="101000"/>
              </a:lnSpc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suggests that there are 3 stages</a:t>
            </a:r>
          </a:p>
          <a:p>
            <a:pPr algn="ctr" eaLnBrk="1">
              <a:lnSpc>
                <a:spcPct val="101000"/>
              </a:lnSpc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involved in money laundering schemes.</a:t>
            </a:r>
          </a:p>
        </p:txBody>
      </p:sp>
      <p:sp>
        <p:nvSpPr>
          <p:cNvPr id="16391" name="Text Box 6">
            <a:extLst>
              <a:ext uri="{FF2B5EF4-FFF2-40B4-BE49-F238E27FC236}">
                <a16:creationId xmlns:a16="http://schemas.microsoft.com/office/drawing/2014/main" id="{873845D4-36BA-4BFA-87A1-01BD4DB6B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4288" y="3743325"/>
            <a:ext cx="57531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4000">
                <a:solidFill>
                  <a:srgbClr val="CCFF99"/>
                </a:solidFill>
              </a:rPr>
              <a:t>What do you think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4000">
                <a:solidFill>
                  <a:srgbClr val="CCFF99"/>
                </a:solidFill>
              </a:rPr>
              <a:t>these 3 stages mean?</a:t>
            </a:r>
          </a:p>
        </p:txBody>
      </p:sp>
      <p:sp>
        <p:nvSpPr>
          <p:cNvPr id="16392" name="AutoShape 7">
            <a:extLst>
              <a:ext uri="{FF2B5EF4-FFF2-40B4-BE49-F238E27FC236}">
                <a16:creationId xmlns:a16="http://schemas.microsoft.com/office/drawing/2014/main" id="{49217956-5EE0-4F73-AD1B-B9A0BD809E5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81906" y="4591844"/>
            <a:ext cx="695325" cy="541338"/>
          </a:xfrm>
          <a:custGeom>
            <a:avLst/>
            <a:gdLst>
              <a:gd name="T0" fmla="*/ 0 w 21600"/>
              <a:gd name="T1" fmla="*/ 6783491 h 21600"/>
              <a:gd name="T2" fmla="*/ 22383188 w 21600"/>
              <a:gd name="T3" fmla="*/ 6783491 h 21600"/>
              <a:gd name="T4" fmla="*/ 15136646 w 21600"/>
              <a:gd name="T5" fmla="*/ 0 h 21600"/>
              <a:gd name="T6" fmla="*/ 15136646 w 21600"/>
              <a:gd name="T7" fmla="*/ 13566983 h 21600"/>
              <a:gd name="T8" fmla="*/ 0 60000 65536"/>
              <a:gd name="T9" fmla="*/ 0 60000 65536"/>
              <a:gd name="T10" fmla="*/ 0 60000 65536"/>
              <a:gd name="T11" fmla="*/ 0 60000 65536"/>
              <a:gd name="T12" fmla="*/ 4000 w 21600"/>
              <a:gd name="T13" fmla="*/ 7442 h 21600"/>
              <a:gd name="T14" fmla="*/ 19426 w 21600"/>
              <a:gd name="T15" fmla="*/ 1415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4607" y="0"/>
                </a:moveTo>
                <a:lnTo>
                  <a:pt x="21600" y="10800"/>
                </a:lnTo>
                <a:lnTo>
                  <a:pt x="14607" y="21800"/>
                </a:lnTo>
                <a:lnTo>
                  <a:pt x="14607" y="14158"/>
                </a:lnTo>
                <a:lnTo>
                  <a:pt x="4000" y="14158"/>
                </a:lnTo>
                <a:lnTo>
                  <a:pt x="4000" y="7442"/>
                </a:lnTo>
                <a:lnTo>
                  <a:pt x="14607" y="7442"/>
                </a:lnTo>
                <a:lnTo>
                  <a:pt x="14607" y="0"/>
                </a:lnTo>
                <a:moveTo>
                  <a:pt x="0" y="7442"/>
                </a:moveTo>
                <a:lnTo>
                  <a:pt x="0" y="14158"/>
                </a:lnTo>
                <a:lnTo>
                  <a:pt x="1000" y="14158"/>
                </a:lnTo>
                <a:lnTo>
                  <a:pt x="1000" y="7442"/>
                </a:lnTo>
                <a:lnTo>
                  <a:pt x="0" y="7442"/>
                </a:lnTo>
                <a:moveTo>
                  <a:pt x="2000" y="7442"/>
                </a:moveTo>
                <a:lnTo>
                  <a:pt x="2000" y="14158"/>
                </a:lnTo>
                <a:lnTo>
                  <a:pt x="3000" y="14158"/>
                </a:lnTo>
                <a:lnTo>
                  <a:pt x="3000" y="7442"/>
                </a:lnTo>
                <a:lnTo>
                  <a:pt x="2000" y="7442"/>
                </a:lnTo>
                <a:close/>
              </a:path>
            </a:pathLst>
          </a:custGeom>
          <a:solidFill>
            <a:srgbClr val="FFFF00"/>
          </a:solidFill>
          <a:ln w="936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93" name="AutoShape 8">
            <a:extLst>
              <a:ext uri="{FF2B5EF4-FFF2-40B4-BE49-F238E27FC236}">
                <a16:creationId xmlns:a16="http://schemas.microsoft.com/office/drawing/2014/main" id="{2C3107FD-D440-4CF3-A481-EE2AEC1544E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81906" y="2736057"/>
            <a:ext cx="695325" cy="541338"/>
          </a:xfrm>
          <a:custGeom>
            <a:avLst/>
            <a:gdLst>
              <a:gd name="T0" fmla="*/ 0 w 21600"/>
              <a:gd name="T1" fmla="*/ 6783491 h 21600"/>
              <a:gd name="T2" fmla="*/ 22383188 w 21600"/>
              <a:gd name="T3" fmla="*/ 6783491 h 21600"/>
              <a:gd name="T4" fmla="*/ 15136646 w 21600"/>
              <a:gd name="T5" fmla="*/ 0 h 21600"/>
              <a:gd name="T6" fmla="*/ 15136646 w 21600"/>
              <a:gd name="T7" fmla="*/ 13566983 h 21600"/>
              <a:gd name="T8" fmla="*/ 0 60000 65536"/>
              <a:gd name="T9" fmla="*/ 0 60000 65536"/>
              <a:gd name="T10" fmla="*/ 0 60000 65536"/>
              <a:gd name="T11" fmla="*/ 0 60000 65536"/>
              <a:gd name="T12" fmla="*/ 4000 w 21600"/>
              <a:gd name="T13" fmla="*/ 7442 h 21600"/>
              <a:gd name="T14" fmla="*/ 19426 w 21600"/>
              <a:gd name="T15" fmla="*/ 1415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4607" y="0"/>
                </a:moveTo>
                <a:lnTo>
                  <a:pt x="21600" y="10800"/>
                </a:lnTo>
                <a:lnTo>
                  <a:pt x="14607" y="21800"/>
                </a:lnTo>
                <a:lnTo>
                  <a:pt x="14607" y="14158"/>
                </a:lnTo>
                <a:lnTo>
                  <a:pt x="4000" y="14158"/>
                </a:lnTo>
                <a:lnTo>
                  <a:pt x="4000" y="7442"/>
                </a:lnTo>
                <a:lnTo>
                  <a:pt x="14607" y="7442"/>
                </a:lnTo>
                <a:lnTo>
                  <a:pt x="14607" y="0"/>
                </a:lnTo>
                <a:moveTo>
                  <a:pt x="0" y="7442"/>
                </a:moveTo>
                <a:lnTo>
                  <a:pt x="0" y="14158"/>
                </a:lnTo>
                <a:lnTo>
                  <a:pt x="1000" y="14158"/>
                </a:lnTo>
                <a:lnTo>
                  <a:pt x="1000" y="7442"/>
                </a:lnTo>
                <a:lnTo>
                  <a:pt x="0" y="7442"/>
                </a:lnTo>
                <a:moveTo>
                  <a:pt x="2000" y="7442"/>
                </a:moveTo>
                <a:lnTo>
                  <a:pt x="2000" y="14158"/>
                </a:lnTo>
                <a:lnTo>
                  <a:pt x="3000" y="14158"/>
                </a:lnTo>
                <a:lnTo>
                  <a:pt x="3000" y="7442"/>
                </a:lnTo>
                <a:lnTo>
                  <a:pt x="2000" y="7442"/>
                </a:lnTo>
                <a:close/>
              </a:path>
            </a:pathLst>
          </a:custGeom>
          <a:solidFill>
            <a:srgbClr val="FFFF00"/>
          </a:solidFill>
          <a:ln w="936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94" name="Text Box 9">
            <a:extLst>
              <a:ext uri="{FF2B5EF4-FFF2-40B4-BE49-F238E27FC236}">
                <a16:creationId xmlns:a16="http://schemas.microsoft.com/office/drawing/2014/main" id="{F0FB230F-F5E6-4E18-B18F-62AD97FA8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4088" y="5759450"/>
            <a:ext cx="5865812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spcAft>
                <a:spcPct val="0"/>
              </a:spcAft>
              <a:buClrTx/>
              <a:buFontTx/>
              <a:buNone/>
            </a:pPr>
            <a:r>
              <a:rPr lang="en-GB" altLang="en-US" sz="2600">
                <a:solidFill>
                  <a:srgbClr val="FFFFFF"/>
                </a:solidFill>
              </a:rPr>
              <a:t>Watch </a:t>
            </a:r>
            <a:r>
              <a:rPr lang="en-GB" altLang="en-US" sz="2600" u="sng">
                <a:solidFill>
                  <a:srgbClr val="CCFF99"/>
                </a:solidFill>
              </a:rPr>
              <a:t>'</a:t>
            </a:r>
            <a:r>
              <a:rPr lang="en-GB" altLang="en-US" sz="2600" u="sng">
                <a:solidFill>
                  <a:srgbClr val="CCCCFF"/>
                </a:solidFill>
                <a:hlinkClick r:id="rId4"/>
              </a:rPr>
              <a:t>How Money Laundering Works</a:t>
            </a:r>
            <a:r>
              <a:rPr lang="en-GB" altLang="en-US" sz="2600" u="sng">
                <a:solidFill>
                  <a:srgbClr val="CCFF99"/>
                </a:solidFill>
              </a:rPr>
              <a:t>'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4C83F006-0FE6-4E40-BD2D-072B16F4A03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AML Measures &amp; Controls</a:t>
            </a:r>
          </a:p>
        </p:txBody>
      </p:sp>
      <p:sp>
        <p:nvSpPr>
          <p:cNvPr id="18435" name="Text Box 2">
            <a:extLst>
              <a:ext uri="{FF2B5EF4-FFF2-40B4-BE49-F238E27FC236}">
                <a16:creationId xmlns:a16="http://schemas.microsoft.com/office/drawing/2014/main" id="{E5E9AF8F-26E5-4D09-B570-49D3C6887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4527550"/>
            <a:ext cx="4032250" cy="188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spcBef>
                <a:spcPts val="575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"/>
            </a:pPr>
            <a:r>
              <a:rPr lang="en-GB" altLang="en-US">
                <a:solidFill>
                  <a:srgbClr val="FFFFFF"/>
                </a:solidFill>
                <a:latin typeface="Cambria" panose="02040503050406030204" pitchFamily="18" charset="0"/>
              </a:rPr>
              <a:t> Risk Based Approach</a:t>
            </a:r>
          </a:p>
          <a:p>
            <a:pPr eaLnBrk="1">
              <a:spcBef>
                <a:spcPts val="575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"/>
            </a:pPr>
            <a:r>
              <a:rPr lang="en-GB" altLang="en-US">
                <a:solidFill>
                  <a:srgbClr val="FFFFFF"/>
                </a:solidFill>
                <a:latin typeface="Cambria" panose="02040503050406030204" pitchFamily="18" charset="0"/>
              </a:rPr>
              <a:t> Due Diligence Checks</a:t>
            </a:r>
          </a:p>
          <a:p>
            <a:pPr eaLnBrk="1">
              <a:spcBef>
                <a:spcPts val="575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"/>
            </a:pPr>
            <a:r>
              <a:rPr lang="en-GB" altLang="en-US">
                <a:solidFill>
                  <a:srgbClr val="FFFFFF"/>
                </a:solidFill>
                <a:latin typeface="Cambria" panose="02040503050406030204" pitchFamily="18" charset="0"/>
              </a:rPr>
              <a:t> AML Policy &amp; Procedures</a:t>
            </a:r>
          </a:p>
          <a:p>
            <a:pPr eaLnBrk="1">
              <a:spcBef>
                <a:spcPts val="575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"/>
            </a:pPr>
            <a:r>
              <a:rPr lang="en-GB" altLang="en-US">
                <a:solidFill>
                  <a:srgbClr val="FFFFFF"/>
                </a:solidFill>
                <a:latin typeface="Cambria" panose="02040503050406030204" pitchFamily="18" charset="0"/>
              </a:rPr>
              <a:t> Staff Training &amp; Awareness</a:t>
            </a:r>
          </a:p>
        </p:txBody>
      </p:sp>
      <p:sp>
        <p:nvSpPr>
          <p:cNvPr id="18436" name="Text Box 3">
            <a:extLst>
              <a:ext uri="{FF2B5EF4-FFF2-40B4-BE49-F238E27FC236}">
                <a16:creationId xmlns:a16="http://schemas.microsoft.com/office/drawing/2014/main" id="{1EE8F1F8-62E6-4CAF-9350-A240E9BAC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1719263"/>
            <a:ext cx="9215438" cy="769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>
                <a:solidFill>
                  <a:srgbClr val="FFFFFF"/>
                </a:solidFill>
              </a:rPr>
              <a:t>Regulatory and legal requirement to have anti-money laundering measures, controls and procedures in place.</a:t>
            </a:r>
          </a:p>
        </p:txBody>
      </p:sp>
      <p:sp>
        <p:nvSpPr>
          <p:cNvPr id="18437" name="AutoShape 4">
            <a:extLst>
              <a:ext uri="{FF2B5EF4-FFF2-40B4-BE49-F238E27FC236}">
                <a16:creationId xmlns:a16="http://schemas.microsoft.com/office/drawing/2014/main" id="{D0B336A4-40A1-4E62-9FFD-38F5CEBB7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3024188"/>
            <a:ext cx="8999537" cy="936625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3200" b="1">
                <a:solidFill>
                  <a:srgbClr val="661900"/>
                </a:solidFill>
              </a:rPr>
              <a:t>How Can We Prevent Money Laundering?</a:t>
            </a:r>
          </a:p>
        </p:txBody>
      </p:sp>
      <p:sp>
        <p:nvSpPr>
          <p:cNvPr id="18438" name="Text Box 5">
            <a:extLst>
              <a:ext uri="{FF2B5EF4-FFF2-40B4-BE49-F238E27FC236}">
                <a16:creationId xmlns:a16="http://schemas.microsoft.com/office/drawing/2014/main" id="{3E085ECF-ECDD-418E-A742-7D2F1E19A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6925" y="4535488"/>
            <a:ext cx="4032250" cy="188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spcBef>
                <a:spcPts val="575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"/>
            </a:pPr>
            <a:r>
              <a:rPr lang="en-GB" altLang="en-US">
                <a:solidFill>
                  <a:srgbClr val="FFFFFF"/>
                </a:solidFill>
                <a:latin typeface="Cambria" panose="02040503050406030204" pitchFamily="18" charset="0"/>
              </a:rPr>
              <a:t> Governance &amp; Oversight</a:t>
            </a:r>
          </a:p>
          <a:p>
            <a:pPr eaLnBrk="1">
              <a:spcBef>
                <a:spcPts val="575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"/>
            </a:pPr>
            <a:r>
              <a:rPr lang="en-GB" altLang="en-US">
                <a:solidFill>
                  <a:srgbClr val="FFFFFF"/>
                </a:solidFill>
                <a:latin typeface="Cambria" panose="02040503050406030204" pitchFamily="18" charset="0"/>
              </a:rPr>
              <a:t> Money Laundering Reporting Officer</a:t>
            </a:r>
          </a:p>
          <a:p>
            <a:pPr eaLnBrk="1">
              <a:spcBef>
                <a:spcPts val="575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"/>
            </a:pPr>
            <a:r>
              <a:rPr lang="en-GB" altLang="en-US">
                <a:solidFill>
                  <a:srgbClr val="FFFFFF"/>
                </a:solidFill>
                <a:latin typeface="Cambria" panose="02040503050406030204" pitchFamily="18" charset="0"/>
              </a:rPr>
              <a:t> Audits &amp; Monitoring</a:t>
            </a:r>
          </a:p>
          <a:p>
            <a:pPr eaLnBrk="1">
              <a:spcBef>
                <a:spcPts val="575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"/>
            </a:pPr>
            <a:r>
              <a:rPr lang="en-GB" altLang="en-US">
                <a:solidFill>
                  <a:srgbClr val="FFFFFF"/>
                </a:solidFill>
                <a:latin typeface="Cambria" panose="02040503050406030204" pitchFamily="18" charset="0"/>
              </a:rPr>
              <a:t> Record Keeping &amp; Reporting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77054295-214B-4F8D-8197-50FAB2322FD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Risk Based Approach</a:t>
            </a:r>
          </a:p>
        </p:txBody>
      </p:sp>
      <p:sp>
        <p:nvSpPr>
          <p:cNvPr id="20483" name="Text Box 2">
            <a:extLst>
              <a:ext uri="{FF2B5EF4-FFF2-40B4-BE49-F238E27FC236}">
                <a16:creationId xmlns:a16="http://schemas.microsoft.com/office/drawing/2014/main" id="{E7B37598-057F-4320-9C14-886AEA864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484" name="Text Box 3">
            <a:extLst>
              <a:ext uri="{FF2B5EF4-FFF2-40B4-BE49-F238E27FC236}">
                <a16:creationId xmlns:a16="http://schemas.microsoft.com/office/drawing/2014/main" id="{4EE3CC55-4855-4C84-9DF6-023DF1524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1595438"/>
            <a:ext cx="87122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300" i="1">
                <a:solidFill>
                  <a:srgbClr val="CCFF99"/>
                </a:solidFill>
                <a:latin typeface="Cambria" panose="02040503050406030204" pitchFamily="18" charset="0"/>
              </a:rPr>
              <a:t>A risk based approach is a common process used for money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300" i="1">
                <a:solidFill>
                  <a:srgbClr val="CCFF99"/>
                </a:solidFill>
                <a:latin typeface="Cambria" panose="02040503050406030204" pitchFamily="18" charset="0"/>
              </a:rPr>
              <a:t>laundering and terrorist funding prevention and encompasses:-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endParaRPr lang="en-GB" altLang="en-US" sz="2300">
              <a:solidFill>
                <a:srgbClr val="FFFFFF"/>
              </a:solidFill>
              <a:latin typeface="Cambria" panose="02040503050406030204" pitchFamily="18" charset="0"/>
            </a:endParaRPr>
          </a:p>
          <a:p>
            <a:pPr algn="ctr" eaLnBrk="1"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300">
                <a:solidFill>
                  <a:srgbClr val="FFFFFF"/>
                </a:solidFill>
                <a:latin typeface="Cambria" panose="02040503050406030204" pitchFamily="18" charset="0"/>
              </a:rPr>
              <a:t>  Identification of the Risks</a:t>
            </a:r>
          </a:p>
          <a:p>
            <a:pPr algn="ctr" eaLnBrk="1"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300">
                <a:solidFill>
                  <a:srgbClr val="FFFFFF"/>
                </a:solidFill>
                <a:latin typeface="Cambria" panose="02040503050406030204" pitchFamily="18" charset="0"/>
              </a:rPr>
              <a:t>  Carrying out Risk Assessments</a:t>
            </a:r>
          </a:p>
          <a:p>
            <a:pPr algn="ctr" eaLnBrk="1"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300">
                <a:solidFill>
                  <a:srgbClr val="FFFFFF"/>
                </a:solidFill>
                <a:latin typeface="Cambria" panose="02040503050406030204" pitchFamily="18" charset="0"/>
              </a:rPr>
              <a:t>  Design and Implement Controls &amp; Procedures for Risk Mitigation</a:t>
            </a:r>
          </a:p>
          <a:p>
            <a:pPr algn="ctr" eaLnBrk="1"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300">
                <a:solidFill>
                  <a:srgbClr val="FFFFFF"/>
                </a:solidFill>
                <a:latin typeface="Cambria" panose="02040503050406030204" pitchFamily="18" charset="0"/>
              </a:rPr>
              <a:t>  Monitor Controls to Improve Effectiveness &amp; Efficiency</a:t>
            </a:r>
          </a:p>
          <a:p>
            <a:pPr algn="ctr" eaLnBrk="1"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300">
                <a:solidFill>
                  <a:srgbClr val="FFFFFF"/>
                </a:solidFill>
                <a:latin typeface="Cambria" panose="02040503050406030204" pitchFamily="18" charset="0"/>
              </a:rPr>
              <a:t>  Good Record Keeping Methods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endParaRPr lang="en-GB" altLang="en-US" sz="2300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20485" name="Oval 4">
            <a:extLst>
              <a:ext uri="{FF2B5EF4-FFF2-40B4-BE49-F238E27FC236}">
                <a16:creationId xmlns:a16="http://schemas.microsoft.com/office/drawing/2014/main" id="{080D0B08-CB47-41AF-9481-CC4A67619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8788" y="4986338"/>
            <a:ext cx="6767512" cy="1781175"/>
          </a:xfrm>
          <a:prstGeom prst="ellipse">
            <a:avLst/>
          </a:prstGeom>
          <a:solidFill>
            <a:srgbClr val="006633">
              <a:alpha val="50195"/>
            </a:srgbClr>
          </a:solidFill>
          <a:ln w="9360" cap="sq">
            <a:solidFill>
              <a:srgbClr val="000000"/>
            </a:solidFill>
            <a:round/>
            <a:headEnd/>
            <a:tailEnd/>
          </a:ln>
          <a:effectLst>
            <a:outerShdw dist="50912" dir="2700000" algn="ctr" rotWithShape="0">
              <a:srgbClr val="4C4C4C">
                <a:alpha val="50026"/>
              </a:srgbClr>
            </a:outerShdw>
          </a:effectLst>
        </p:spPr>
        <p:txBody>
          <a:bodyPr lIns="90000" tIns="76680" rIns="90000" bIns="45000" anchor="ctr" anchorCtr="1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800" i="1">
                <a:solidFill>
                  <a:srgbClr val="CCFF99"/>
                </a:solidFill>
              </a:rPr>
              <a:t>What are some of the risks and risk areas for your business?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>
            <a:extLst>
              <a:ext uri="{FF2B5EF4-FFF2-40B4-BE49-F238E27FC236}">
                <a16:creationId xmlns:a16="http://schemas.microsoft.com/office/drawing/2014/main" id="{3A005DB8-C6A1-47C6-9D88-1069D9CE7D7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Due Diligence</a:t>
            </a:r>
          </a:p>
        </p:txBody>
      </p:sp>
      <p:sp>
        <p:nvSpPr>
          <p:cNvPr id="22531" name="AutoShape 2">
            <a:extLst>
              <a:ext uri="{FF2B5EF4-FFF2-40B4-BE49-F238E27FC236}">
                <a16:creationId xmlns:a16="http://schemas.microsoft.com/office/drawing/2014/main" id="{7E475DB8-D165-42BA-ACFF-F8176EC6A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1595438"/>
            <a:ext cx="8783638" cy="3589337"/>
          </a:xfrm>
          <a:prstGeom prst="roundRect">
            <a:avLst>
              <a:gd name="adj" fmla="val 65"/>
            </a:avLst>
          </a:prstGeom>
          <a:solidFill>
            <a:srgbClr val="006633">
              <a:alpha val="50195"/>
            </a:srgbClr>
          </a:solidFill>
          <a:ln w="936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marL="461963" indent="-212725"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</a:pP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Taking reasonable care before entering into an agreement or transaction</a:t>
            </a:r>
          </a:p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</a:pPr>
            <a:r>
              <a:rPr lang="en-GB" altLang="en-US" sz="2200">
                <a:solidFill>
                  <a:srgbClr val="CCFF99"/>
                </a:solidFill>
                <a:latin typeface="Verdana" panose="020B0604030504040204" pitchFamily="34" charset="0"/>
              </a:rPr>
              <a:t>An investigation onto a person or business to verify their identity, status and history</a:t>
            </a:r>
          </a:p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</a:pP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Research and analysis to determine the accuracy of a statement or situation</a:t>
            </a:r>
          </a:p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</a:pPr>
            <a:r>
              <a:rPr lang="en-GB" altLang="en-US" sz="2200">
                <a:solidFill>
                  <a:srgbClr val="CCFF99"/>
                </a:solidFill>
                <a:latin typeface="Verdana" panose="020B0604030504040204" pitchFamily="34" charset="0"/>
              </a:rPr>
              <a:t>Reasonable steps taken by a person or business to avoid committing and offence</a:t>
            </a: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   </a:t>
            </a:r>
          </a:p>
        </p:txBody>
      </p:sp>
      <p:sp>
        <p:nvSpPr>
          <p:cNvPr id="22532" name="Text Box 3">
            <a:extLst>
              <a:ext uri="{FF2B5EF4-FFF2-40B4-BE49-F238E27FC236}">
                <a16:creationId xmlns:a16="http://schemas.microsoft.com/office/drawing/2014/main" id="{FF56A643-CBF4-4CC8-A733-59225B12A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id="{CF808E50-5E6A-452A-86C1-6F80A6498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5616575"/>
            <a:ext cx="87122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300">
                <a:solidFill>
                  <a:srgbClr val="FFFFFF"/>
                </a:solidFill>
                <a:latin typeface="Cambria" panose="02040503050406030204" pitchFamily="18" charset="0"/>
              </a:rPr>
              <a:t>Due diligence has multiple definitions, all of which mean protecting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300">
                <a:solidFill>
                  <a:srgbClr val="FFFFFF"/>
                </a:solidFill>
                <a:latin typeface="Cambria" panose="02040503050406030204" pitchFamily="18" charset="0"/>
              </a:rPr>
              <a:t>a firm from financial crime and money laundering.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>
            <a:extLst>
              <a:ext uri="{FF2B5EF4-FFF2-40B4-BE49-F238E27FC236}">
                <a16:creationId xmlns:a16="http://schemas.microsoft.com/office/drawing/2014/main" id="{B37989D3-7A43-4F0E-9570-844AE7D5A7D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Know Your Customer</a:t>
            </a:r>
          </a:p>
        </p:txBody>
      </p:sp>
      <p:sp>
        <p:nvSpPr>
          <p:cNvPr id="24579" name="Text Box 2">
            <a:extLst>
              <a:ext uri="{FF2B5EF4-FFF2-40B4-BE49-F238E27FC236}">
                <a16:creationId xmlns:a16="http://schemas.microsoft.com/office/drawing/2014/main" id="{D8196FDC-1B67-4D45-A560-612D6D90F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4580" name="Text Box 3">
            <a:extLst>
              <a:ext uri="{FF2B5EF4-FFF2-40B4-BE49-F238E27FC236}">
                <a16:creationId xmlns:a16="http://schemas.microsoft.com/office/drawing/2014/main" id="{B9A0FCAF-BB2E-4F21-B11F-AFB4F49F1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1595438"/>
            <a:ext cx="87122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800" i="1">
                <a:solidFill>
                  <a:srgbClr val="CCFF99"/>
                </a:solidFill>
                <a:latin typeface="Cambria" panose="02040503050406030204" pitchFamily="18" charset="0"/>
              </a:rPr>
              <a:t>Customer due diligence is an essential business activity for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800" i="1">
                <a:solidFill>
                  <a:srgbClr val="CCFF99"/>
                </a:solidFill>
                <a:latin typeface="Cambria" panose="02040503050406030204" pitchFamily="18" charset="0"/>
              </a:rPr>
              <a:t>reducing the risks and impact of money laundering.  </a:t>
            </a:r>
          </a:p>
        </p:txBody>
      </p:sp>
      <p:sp>
        <p:nvSpPr>
          <p:cNvPr id="24581" name="AutoShape 4">
            <a:extLst>
              <a:ext uri="{FF2B5EF4-FFF2-40B4-BE49-F238E27FC236}">
                <a16:creationId xmlns:a16="http://schemas.microsoft.com/office/drawing/2014/main" id="{F0CC4120-66E4-4AE4-8A20-704D3C7ED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763" y="4032250"/>
            <a:ext cx="2016125" cy="720725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Identification</a:t>
            </a:r>
          </a:p>
        </p:txBody>
      </p:sp>
      <p:sp>
        <p:nvSpPr>
          <p:cNvPr id="24582" name="AutoShape 5">
            <a:extLst>
              <a:ext uri="{FF2B5EF4-FFF2-40B4-BE49-F238E27FC236}">
                <a16:creationId xmlns:a16="http://schemas.microsoft.com/office/drawing/2014/main" id="{D550EE61-12A7-4C2D-9C6D-FA67C62F7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5713" y="5256213"/>
            <a:ext cx="2016125" cy="720725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24583" name="AutoShape 6">
            <a:extLst>
              <a:ext uri="{FF2B5EF4-FFF2-40B4-BE49-F238E27FC236}">
                <a16:creationId xmlns:a16="http://schemas.microsoft.com/office/drawing/2014/main" id="{4705F145-0DF6-4DBE-9510-7D4C81E0A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5713" y="4032250"/>
            <a:ext cx="2016125" cy="720725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Audits</a:t>
            </a:r>
          </a:p>
        </p:txBody>
      </p:sp>
      <p:sp>
        <p:nvSpPr>
          <p:cNvPr id="24584" name="AutoShape 7">
            <a:extLst>
              <a:ext uri="{FF2B5EF4-FFF2-40B4-BE49-F238E27FC236}">
                <a16:creationId xmlns:a16="http://schemas.microsoft.com/office/drawing/2014/main" id="{9692D5E9-4039-4AE4-857A-162A6B68F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6264275"/>
            <a:ext cx="2016125" cy="720725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Verification</a:t>
            </a:r>
          </a:p>
        </p:txBody>
      </p:sp>
      <p:sp>
        <p:nvSpPr>
          <p:cNvPr id="24585" name="AutoShape 8">
            <a:extLst>
              <a:ext uri="{FF2B5EF4-FFF2-40B4-BE49-F238E27FC236}">
                <a16:creationId xmlns:a16="http://schemas.microsoft.com/office/drawing/2014/main" id="{95EA0DD4-27FF-4BD8-B5C7-3480110AB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763" y="5256213"/>
            <a:ext cx="2016125" cy="720725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Background</a:t>
            </a:r>
          </a:p>
        </p:txBody>
      </p:sp>
      <p:sp>
        <p:nvSpPr>
          <p:cNvPr id="24586" name="AutoShape 9">
            <a:extLst>
              <a:ext uri="{FF2B5EF4-FFF2-40B4-BE49-F238E27FC236}">
                <a16:creationId xmlns:a16="http://schemas.microsoft.com/office/drawing/2014/main" id="{F253628A-AAD5-4172-9BE3-F2C1EB6EB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2952750"/>
            <a:ext cx="2016125" cy="720725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Monitoring</a:t>
            </a:r>
          </a:p>
        </p:txBody>
      </p:sp>
      <p:sp>
        <p:nvSpPr>
          <p:cNvPr id="24587" name="AutoShape 10">
            <a:extLst>
              <a:ext uri="{FF2B5EF4-FFF2-40B4-BE49-F238E27FC236}">
                <a16:creationId xmlns:a16="http://schemas.microsoft.com/office/drawing/2014/main" id="{3386FFCA-B31B-4B39-B83C-2B3A1565E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4032250"/>
            <a:ext cx="1944688" cy="1944688"/>
          </a:xfrm>
          <a:custGeom>
            <a:avLst/>
            <a:gdLst>
              <a:gd name="T0" fmla="*/ 87541931 w 21600"/>
              <a:gd name="T1" fmla="*/ 0 h 21600"/>
              <a:gd name="T2" fmla="*/ 25638460 w 21600"/>
              <a:gd name="T3" fmla="*/ 25638460 h 21600"/>
              <a:gd name="T4" fmla="*/ 0 w 21600"/>
              <a:gd name="T5" fmla="*/ 87541931 h 21600"/>
              <a:gd name="T6" fmla="*/ 25638460 w 21600"/>
              <a:gd name="T7" fmla="*/ 149445401 h 21600"/>
              <a:gd name="T8" fmla="*/ 87541931 w 21600"/>
              <a:gd name="T9" fmla="*/ 175083862 h 21600"/>
              <a:gd name="T10" fmla="*/ 149445401 w 21600"/>
              <a:gd name="T11" fmla="*/ 149445401 h 21600"/>
              <a:gd name="T12" fmla="*/ 175083862 w 21600"/>
              <a:gd name="T13" fmla="*/ 87541931 h 21600"/>
              <a:gd name="T14" fmla="*/ 149445401 w 21600"/>
              <a:gd name="T15" fmla="*/ 25638460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811" y="10800"/>
                </a:moveTo>
                <a:cubicBezTo>
                  <a:pt x="1811" y="15764"/>
                  <a:pt x="5836" y="19789"/>
                  <a:pt x="10800" y="19789"/>
                </a:cubicBezTo>
                <a:cubicBezTo>
                  <a:pt x="15764" y="19789"/>
                  <a:pt x="19789" y="15764"/>
                  <a:pt x="19789" y="10800"/>
                </a:cubicBezTo>
                <a:cubicBezTo>
                  <a:pt x="19789" y="5836"/>
                  <a:pt x="15764" y="1811"/>
                  <a:pt x="10800" y="1811"/>
                </a:cubicBezTo>
                <a:cubicBezTo>
                  <a:pt x="5836" y="1811"/>
                  <a:pt x="1811" y="5836"/>
                  <a:pt x="1811" y="10800"/>
                </a:cubicBezTo>
                <a:close/>
              </a:path>
            </a:pathLst>
          </a:custGeom>
          <a:solidFill>
            <a:srgbClr val="CCFF99"/>
          </a:solidFill>
          <a:ln w="936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88" name="Text Box 11">
            <a:extLst>
              <a:ext uri="{FF2B5EF4-FFF2-40B4-BE49-F238E27FC236}">
                <a16:creationId xmlns:a16="http://schemas.microsoft.com/office/drawing/2014/main" id="{F67F8A73-7A3D-47DE-8EEA-46EFFC2BF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2613" y="4679950"/>
            <a:ext cx="12954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spcAft>
                <a:spcPct val="0"/>
              </a:spcAft>
              <a:buClrTx/>
              <a:buFontTx/>
              <a:buNone/>
            </a:pPr>
            <a:r>
              <a:rPr lang="en-GB" altLang="en-US" sz="4000" b="1">
                <a:solidFill>
                  <a:srgbClr val="CCFF99"/>
                </a:solidFill>
              </a:rPr>
              <a:t>KYC</a:t>
            </a:r>
          </a:p>
        </p:txBody>
      </p:sp>
      <p:sp>
        <p:nvSpPr>
          <p:cNvPr id="24589" name="AutoShape 12">
            <a:extLst>
              <a:ext uri="{FF2B5EF4-FFF2-40B4-BE49-F238E27FC236}">
                <a16:creationId xmlns:a16="http://schemas.microsoft.com/office/drawing/2014/main" id="{AB3568E2-118F-472C-A8CB-25A6FA05F0CC}"/>
              </a:ext>
            </a:extLst>
          </p:cNvPr>
          <p:cNvSpPr>
            <a:spLocks noChangeArrowheads="1"/>
          </p:cNvSpPr>
          <p:nvPr/>
        </p:nvSpPr>
        <p:spPr bwMode="auto">
          <a:xfrm rot="1140000" flipH="1">
            <a:off x="6427788" y="3484563"/>
            <a:ext cx="625475" cy="668337"/>
          </a:xfrm>
          <a:custGeom>
            <a:avLst/>
            <a:gdLst>
              <a:gd name="T0" fmla="*/ -114960 w 21600"/>
              <a:gd name="T1" fmla="*/ 19498949 h 21600"/>
              <a:gd name="T2" fmla="*/ 0 w 21600"/>
              <a:gd name="T3" fmla="*/ 0 h 21600"/>
              <a:gd name="T4" fmla="*/ 3697368 w 21600"/>
              <a:gd name="T5" fmla="*/ 32116501 h 21600"/>
              <a:gd name="T6" fmla="*/ -7839518 w 21600"/>
              <a:gd name="T7" fmla="*/ -7708370 h 21600"/>
              <a:gd name="T8" fmla="*/ 13117890 w 21600"/>
              <a:gd name="T9" fmla="*/ 6406289 h 21600"/>
              <a:gd name="T10" fmla="*/ 6067194 w 21600"/>
              <a:gd name="T11" fmla="*/ 11809700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600"/>
              <a:gd name="T19" fmla="*/ 0 h 21600"/>
              <a:gd name="T20" fmla="*/ 21600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4164" y="2021"/>
                </a:moveTo>
                <a:cubicBezTo>
                  <a:pt x="13090" y="1610"/>
                  <a:pt x="11950" y="1399"/>
                  <a:pt x="10800" y="1399"/>
                </a:cubicBezTo>
                <a:cubicBezTo>
                  <a:pt x="5607" y="1399"/>
                  <a:pt x="1399" y="5607"/>
                  <a:pt x="1399" y="10800"/>
                </a:cubicBezTo>
                <a:cubicBezTo>
                  <a:pt x="1399" y="11041"/>
                  <a:pt x="1408" y="11282"/>
                  <a:pt x="1426" y="11522"/>
                </a:cubicBezTo>
                <a:lnTo>
                  <a:pt x="31" y="11629"/>
                </a:lnTo>
                <a:cubicBezTo>
                  <a:pt x="10" y="11353"/>
                  <a:pt x="0" y="11076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2121" y="0"/>
                  <a:pt x="13431" y="242"/>
                  <a:pt x="14664" y="715"/>
                </a:cubicBezTo>
                <a:lnTo>
                  <a:pt x="15632" y="-1806"/>
                </a:lnTo>
                <a:lnTo>
                  <a:pt x="33594" y="4406"/>
                </a:lnTo>
                <a:lnTo>
                  <a:pt x="13198" y="4543"/>
                </a:lnTo>
                <a:lnTo>
                  <a:pt x="14164" y="2021"/>
                </a:lnTo>
                <a:close/>
              </a:path>
            </a:pathLst>
          </a:custGeom>
          <a:solidFill>
            <a:srgbClr val="CCFF99"/>
          </a:solidFill>
          <a:ln w="936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0" name="AutoShape 13">
            <a:extLst>
              <a:ext uri="{FF2B5EF4-FFF2-40B4-BE49-F238E27FC236}">
                <a16:creationId xmlns:a16="http://schemas.microsoft.com/office/drawing/2014/main" id="{DFF2F246-82CB-41D6-82D2-F98CD25780B5}"/>
              </a:ext>
            </a:extLst>
          </p:cNvPr>
          <p:cNvSpPr>
            <a:spLocks noChangeArrowheads="1"/>
          </p:cNvSpPr>
          <p:nvPr/>
        </p:nvSpPr>
        <p:spPr bwMode="auto">
          <a:xfrm rot="18720000" flipV="1">
            <a:off x="6153944" y="6263481"/>
            <a:ext cx="590550" cy="522288"/>
          </a:xfrm>
          <a:custGeom>
            <a:avLst/>
            <a:gdLst>
              <a:gd name="T0" fmla="*/ -102444 w 21600"/>
              <a:gd name="T1" fmla="*/ 11934353 h 21600"/>
              <a:gd name="T2" fmla="*/ 0 w 21600"/>
              <a:gd name="T3" fmla="*/ 0 h 21600"/>
              <a:gd name="T4" fmla="*/ 3294585 w 21600"/>
              <a:gd name="T5" fmla="*/ 19656938 h 21600"/>
              <a:gd name="T6" fmla="*/ -6985496 w 21600"/>
              <a:gd name="T7" fmla="*/ -4717929 h 21600"/>
              <a:gd name="T8" fmla="*/ 11688844 w 21600"/>
              <a:gd name="T9" fmla="*/ 3920980 h 21600"/>
              <a:gd name="T10" fmla="*/ 5406239 w 21600"/>
              <a:gd name="T11" fmla="*/ 7228152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600"/>
              <a:gd name="T19" fmla="*/ 0 h 21600"/>
              <a:gd name="T20" fmla="*/ 21600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4164" y="2021"/>
                </a:moveTo>
                <a:cubicBezTo>
                  <a:pt x="13090" y="1610"/>
                  <a:pt x="11950" y="1399"/>
                  <a:pt x="10800" y="1399"/>
                </a:cubicBezTo>
                <a:cubicBezTo>
                  <a:pt x="5607" y="1399"/>
                  <a:pt x="1399" y="5607"/>
                  <a:pt x="1399" y="10800"/>
                </a:cubicBezTo>
                <a:cubicBezTo>
                  <a:pt x="1399" y="11041"/>
                  <a:pt x="1408" y="11282"/>
                  <a:pt x="1426" y="11522"/>
                </a:cubicBezTo>
                <a:lnTo>
                  <a:pt x="31" y="11629"/>
                </a:lnTo>
                <a:cubicBezTo>
                  <a:pt x="10" y="11353"/>
                  <a:pt x="0" y="11076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2121" y="0"/>
                  <a:pt x="13431" y="242"/>
                  <a:pt x="14664" y="715"/>
                </a:cubicBezTo>
                <a:lnTo>
                  <a:pt x="15632" y="-1806"/>
                </a:lnTo>
                <a:lnTo>
                  <a:pt x="33594" y="4406"/>
                </a:lnTo>
                <a:lnTo>
                  <a:pt x="13198" y="4543"/>
                </a:lnTo>
                <a:lnTo>
                  <a:pt x="14164" y="2021"/>
                </a:lnTo>
                <a:close/>
              </a:path>
            </a:pathLst>
          </a:custGeom>
          <a:solidFill>
            <a:srgbClr val="CCFF99"/>
          </a:solidFill>
          <a:ln w="936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1" name="AutoShape 14">
            <a:extLst>
              <a:ext uri="{FF2B5EF4-FFF2-40B4-BE49-F238E27FC236}">
                <a16:creationId xmlns:a16="http://schemas.microsoft.com/office/drawing/2014/main" id="{EB0FEAC1-B4D5-4C6F-9426-5482130AA08D}"/>
              </a:ext>
            </a:extLst>
          </p:cNvPr>
          <p:cNvSpPr>
            <a:spLocks noChangeArrowheads="1"/>
          </p:cNvSpPr>
          <p:nvPr/>
        </p:nvSpPr>
        <p:spPr bwMode="auto">
          <a:xfrm rot="840000" flipV="1">
            <a:off x="2857500" y="5892800"/>
            <a:ext cx="600075" cy="660400"/>
          </a:xfrm>
          <a:custGeom>
            <a:avLst/>
            <a:gdLst>
              <a:gd name="T0" fmla="*/ -105791 w 21600"/>
              <a:gd name="T1" fmla="*/ 19077702 h 21600"/>
              <a:gd name="T2" fmla="*/ 0 w 21600"/>
              <a:gd name="T3" fmla="*/ 0 h 21600"/>
              <a:gd name="T4" fmla="*/ 3402425 w 21600"/>
              <a:gd name="T5" fmla="*/ 31422627 h 21600"/>
              <a:gd name="T6" fmla="*/ -7214124 w 21600"/>
              <a:gd name="T7" fmla="*/ -7541829 h 21600"/>
              <a:gd name="T8" fmla="*/ 12071425 w 21600"/>
              <a:gd name="T9" fmla="*/ 6267869 h 21600"/>
              <a:gd name="T10" fmla="*/ 5583198 w 21600"/>
              <a:gd name="T11" fmla="*/ 11554554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600"/>
              <a:gd name="T19" fmla="*/ 0 h 21600"/>
              <a:gd name="T20" fmla="*/ 21600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4164" y="2021"/>
                </a:moveTo>
                <a:cubicBezTo>
                  <a:pt x="13090" y="1610"/>
                  <a:pt x="11950" y="1399"/>
                  <a:pt x="10800" y="1399"/>
                </a:cubicBezTo>
                <a:cubicBezTo>
                  <a:pt x="5607" y="1399"/>
                  <a:pt x="1399" y="5607"/>
                  <a:pt x="1399" y="10800"/>
                </a:cubicBezTo>
                <a:cubicBezTo>
                  <a:pt x="1399" y="11041"/>
                  <a:pt x="1408" y="11282"/>
                  <a:pt x="1426" y="11522"/>
                </a:cubicBezTo>
                <a:lnTo>
                  <a:pt x="31" y="11629"/>
                </a:lnTo>
                <a:cubicBezTo>
                  <a:pt x="10" y="11353"/>
                  <a:pt x="0" y="11076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2121" y="0"/>
                  <a:pt x="13431" y="242"/>
                  <a:pt x="14664" y="715"/>
                </a:cubicBezTo>
                <a:lnTo>
                  <a:pt x="15632" y="-1806"/>
                </a:lnTo>
                <a:lnTo>
                  <a:pt x="33594" y="4406"/>
                </a:lnTo>
                <a:lnTo>
                  <a:pt x="13198" y="4543"/>
                </a:lnTo>
                <a:lnTo>
                  <a:pt x="14164" y="2021"/>
                </a:lnTo>
                <a:close/>
              </a:path>
            </a:pathLst>
          </a:custGeom>
          <a:solidFill>
            <a:srgbClr val="CCFF99"/>
          </a:solidFill>
          <a:ln w="936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2" name="AutoShape 15">
            <a:extLst>
              <a:ext uri="{FF2B5EF4-FFF2-40B4-BE49-F238E27FC236}">
                <a16:creationId xmlns:a16="http://schemas.microsoft.com/office/drawing/2014/main" id="{D3E7986A-2309-4F81-A328-41B6B984D21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272338" y="4824413"/>
            <a:ext cx="144462" cy="287337"/>
          </a:xfrm>
          <a:prstGeom prst="downArrow">
            <a:avLst>
              <a:gd name="adj1" fmla="val 50000"/>
              <a:gd name="adj2" fmla="val 49725"/>
            </a:avLst>
          </a:prstGeom>
          <a:solidFill>
            <a:srgbClr val="CCFF99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4593" name="AutoShape 16">
            <a:extLst>
              <a:ext uri="{FF2B5EF4-FFF2-40B4-BE49-F238E27FC236}">
                <a16:creationId xmlns:a16="http://schemas.microsoft.com/office/drawing/2014/main" id="{6CFA6A2D-A3A4-4436-B91A-3A50CA87DB9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519363" y="4824413"/>
            <a:ext cx="144462" cy="287337"/>
          </a:xfrm>
          <a:prstGeom prst="downArrow">
            <a:avLst>
              <a:gd name="adj1" fmla="val 50000"/>
              <a:gd name="adj2" fmla="val 49725"/>
            </a:avLst>
          </a:prstGeom>
          <a:solidFill>
            <a:srgbClr val="CCFF99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>
            <a:extLst>
              <a:ext uri="{FF2B5EF4-FFF2-40B4-BE49-F238E27FC236}">
                <a16:creationId xmlns:a16="http://schemas.microsoft.com/office/drawing/2014/main" id="{885CCDDB-3922-4112-ABE9-76EA0D00B7E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Policy &amp; Procedures</a:t>
            </a:r>
          </a:p>
        </p:txBody>
      </p:sp>
      <p:sp>
        <p:nvSpPr>
          <p:cNvPr id="26627" name="Text Box 2">
            <a:extLst>
              <a:ext uri="{FF2B5EF4-FFF2-40B4-BE49-F238E27FC236}">
                <a16:creationId xmlns:a16="http://schemas.microsoft.com/office/drawing/2014/main" id="{870A4842-3329-4AA6-9E67-3A4CA43E0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6628" name="Text Box 3">
            <a:extLst>
              <a:ext uri="{FF2B5EF4-FFF2-40B4-BE49-F238E27FC236}">
                <a16:creationId xmlns:a16="http://schemas.microsoft.com/office/drawing/2014/main" id="{150D38C8-103B-4970-BD40-E32E5E72B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3600450"/>
            <a:ext cx="87122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3200" i="1">
                <a:solidFill>
                  <a:srgbClr val="CCFF99"/>
                </a:solidFill>
                <a:latin typeface="Cambria" panose="02040503050406030204" pitchFamily="18" charset="0"/>
              </a:rPr>
              <a:t>Where are your AML policy and procedures kept?</a:t>
            </a:r>
          </a:p>
        </p:txBody>
      </p:sp>
      <p:sp>
        <p:nvSpPr>
          <p:cNvPr id="26629" name="AutoShape 4">
            <a:extLst>
              <a:ext uri="{FF2B5EF4-FFF2-40B4-BE49-F238E27FC236}">
                <a16:creationId xmlns:a16="http://schemas.microsoft.com/office/drawing/2014/main" id="{B9591F07-7170-4ABA-B0E8-B541A6C39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1655763"/>
            <a:ext cx="8496300" cy="1439862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 b="1" u="sng">
                <a:solidFill>
                  <a:srgbClr val="FFFFFF"/>
                </a:solidFill>
              </a:rPr>
              <a:t>Anti-Money Laundering Policy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endParaRPr lang="en-GB" altLang="en-US" sz="2200">
              <a:solidFill>
                <a:srgbClr val="FFFFFF"/>
              </a:solidFill>
            </a:endParaRP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'A firm's statement of intent on how and why they identify,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assess, mitigate, monitor and record money laundering risks'</a:t>
            </a:r>
          </a:p>
        </p:txBody>
      </p:sp>
      <p:sp>
        <p:nvSpPr>
          <p:cNvPr id="26630" name="AutoShape 5">
            <a:extLst>
              <a:ext uri="{FF2B5EF4-FFF2-40B4-BE49-F238E27FC236}">
                <a16:creationId xmlns:a16="http://schemas.microsoft.com/office/drawing/2014/main" id="{CF386817-EC73-4236-A448-A6884A07A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4829175"/>
            <a:ext cx="8496300" cy="1728788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 b="1" u="sng">
                <a:solidFill>
                  <a:srgbClr val="FFFFFF"/>
                </a:solidFill>
              </a:rPr>
              <a:t>Anti-Money Laundering Procedures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endParaRPr lang="en-GB" altLang="en-US" sz="2200">
              <a:solidFill>
                <a:srgbClr val="FFFFFF"/>
              </a:solidFill>
            </a:endParaRP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'The steps and measures a firm takes to identify, assess, mitigate,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monitor and record money laundering risks and provide staff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with guidance for preventing money laundering'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>
            <a:extLst>
              <a:ext uri="{FF2B5EF4-FFF2-40B4-BE49-F238E27FC236}">
                <a16:creationId xmlns:a16="http://schemas.microsoft.com/office/drawing/2014/main" id="{D980F1F8-205A-4CD1-896E-DEFD39EA397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Staff Training &amp; Awareness</a:t>
            </a:r>
          </a:p>
        </p:txBody>
      </p:sp>
      <p:sp>
        <p:nvSpPr>
          <p:cNvPr id="28675" name="AutoShape 2">
            <a:extLst>
              <a:ext uri="{FF2B5EF4-FFF2-40B4-BE49-F238E27FC236}">
                <a16:creationId xmlns:a16="http://schemas.microsoft.com/office/drawing/2014/main" id="{34F42F82-222F-46F2-93A0-125CAA6BF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0" y="1595438"/>
            <a:ext cx="5688013" cy="1355725"/>
          </a:xfrm>
          <a:prstGeom prst="roundRect">
            <a:avLst>
              <a:gd name="adj" fmla="val 65"/>
            </a:avLst>
          </a:prstGeom>
          <a:blipFill dpi="0" rotWithShape="0">
            <a:blip r:embed="rId4"/>
            <a:srcRect/>
            <a:tile tx="0" ty="0" sx="100000" sy="100000" flip="none" algn="tl"/>
          </a:blipFill>
          <a:ln w="936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   </a:t>
            </a:r>
          </a:p>
        </p:txBody>
      </p:sp>
      <p:sp>
        <p:nvSpPr>
          <p:cNvPr id="28676" name="Text Box 3">
            <a:extLst>
              <a:ext uri="{FF2B5EF4-FFF2-40B4-BE49-F238E27FC236}">
                <a16:creationId xmlns:a16="http://schemas.microsoft.com/office/drawing/2014/main" id="{009DB61C-9ECB-4479-80E6-5A6D7154F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8677" name="Text Box 4">
            <a:extLst>
              <a:ext uri="{FF2B5EF4-FFF2-40B4-BE49-F238E27FC236}">
                <a16:creationId xmlns:a16="http://schemas.microsoft.com/office/drawing/2014/main" id="{CE7CFD3B-3544-47FD-941D-D3E4F422E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3168650"/>
            <a:ext cx="87122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300" i="1">
                <a:solidFill>
                  <a:srgbClr val="CCFF99"/>
                </a:solidFill>
                <a:latin typeface="Cambria" panose="02040503050406030204" pitchFamily="18" charset="0"/>
              </a:rPr>
              <a:t>Training is an essential part of preventing money laundering that:-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endParaRPr lang="en-GB" altLang="en-US" sz="2300">
              <a:solidFill>
                <a:srgbClr val="FFFFFF"/>
              </a:solidFill>
              <a:latin typeface="Cambria" panose="02040503050406030204" pitchFamily="18" charset="0"/>
            </a:endParaRPr>
          </a:p>
          <a:p>
            <a:pPr algn="ctr" eaLnBrk="1">
              <a:spcAft>
                <a:spcPct val="0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>
                <a:solidFill>
                  <a:srgbClr val="FFFFFF"/>
                </a:solidFill>
                <a:latin typeface="Cambria" panose="02040503050406030204" pitchFamily="18" charset="0"/>
              </a:rPr>
              <a:t>  Provides staff with knowledge and understanding</a:t>
            </a:r>
          </a:p>
          <a:p>
            <a:pPr algn="ctr" eaLnBrk="1">
              <a:spcAft>
                <a:spcPct val="0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>
                <a:solidFill>
                  <a:srgbClr val="FFFFFF"/>
                </a:solidFill>
                <a:latin typeface="Cambria" panose="02040503050406030204" pitchFamily="18" charset="0"/>
              </a:rPr>
              <a:t>  Helps to keep staff vigilant and aware of the risks</a:t>
            </a:r>
          </a:p>
          <a:p>
            <a:pPr algn="ctr" eaLnBrk="1">
              <a:spcAft>
                <a:spcPct val="0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>
                <a:solidFill>
                  <a:srgbClr val="FFFFFF"/>
                </a:solidFill>
                <a:latin typeface="Cambria" panose="02040503050406030204" pitchFamily="18" charset="0"/>
              </a:rPr>
              <a:t>  Supports staff in their duties and roles</a:t>
            </a:r>
          </a:p>
          <a:p>
            <a:pPr algn="ctr" eaLnBrk="1">
              <a:spcAft>
                <a:spcPct val="0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>
                <a:solidFill>
                  <a:srgbClr val="FFFFFF"/>
                </a:solidFill>
                <a:latin typeface="Cambria" panose="02040503050406030204" pitchFamily="18" charset="0"/>
              </a:rPr>
              <a:t>  Meets regulatory and legal requirements</a:t>
            </a:r>
            <a:r>
              <a:rPr lang="en-GB" altLang="en-US" sz="2300">
                <a:solidFill>
                  <a:srgbClr val="FFFFFF"/>
                </a:solidFill>
                <a:latin typeface="Cambria" panose="02040503050406030204" pitchFamily="18" charset="0"/>
              </a:rPr>
              <a:t> </a:t>
            </a:r>
          </a:p>
        </p:txBody>
      </p:sp>
      <p:sp>
        <p:nvSpPr>
          <p:cNvPr id="28678" name="Freeform 5">
            <a:extLst>
              <a:ext uri="{FF2B5EF4-FFF2-40B4-BE49-F238E27FC236}">
                <a16:creationId xmlns:a16="http://schemas.microsoft.com/office/drawing/2014/main" id="{676AEF5B-2E06-40BB-892F-878C68CC7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238" y="6119813"/>
            <a:ext cx="2447925" cy="720725"/>
          </a:xfrm>
          <a:custGeom>
            <a:avLst/>
            <a:gdLst>
              <a:gd name="T0" fmla="*/ 24788301 w 21600"/>
              <a:gd name="T1" fmla="*/ 7971586 h 21600"/>
              <a:gd name="T2" fmla="*/ 67686033 w 21600"/>
              <a:gd name="T3" fmla="*/ 2193306 h 21600"/>
              <a:gd name="T4" fmla="*/ 89520277 w 21600"/>
              <a:gd name="T5" fmla="*/ 2894712 h 21600"/>
              <a:gd name="T6" fmla="*/ 119959771 w 21600"/>
              <a:gd name="T7" fmla="*/ 723661 h 21600"/>
              <a:gd name="T8" fmla="*/ 143977429 w 21600"/>
              <a:gd name="T9" fmla="*/ 1892704 h 21600"/>
              <a:gd name="T10" fmla="*/ 168894132 w 21600"/>
              <a:gd name="T11" fmla="*/ 0 h 21600"/>
              <a:gd name="T12" fmla="*/ 190985182 w 21600"/>
              <a:gd name="T13" fmla="*/ 1291499 h 21600"/>
              <a:gd name="T14" fmla="*/ 215002839 w 21600"/>
              <a:gd name="T15" fmla="*/ 0 h 21600"/>
              <a:gd name="T16" fmla="*/ 245442333 w 21600"/>
              <a:gd name="T17" fmla="*/ 3017168 h 21600"/>
              <a:gd name="T18" fmla="*/ 270487439 w 21600"/>
              <a:gd name="T19" fmla="*/ 6925033 h 21600"/>
              <a:gd name="T20" fmla="*/ 267533383 w 21600"/>
              <a:gd name="T21" fmla="*/ 8528245 h 21600"/>
              <a:gd name="T22" fmla="*/ 277423000 w 21600"/>
              <a:gd name="T23" fmla="*/ 11645648 h 21600"/>
              <a:gd name="T24" fmla="*/ 239534221 w 21600"/>
              <a:gd name="T25" fmla="*/ 16711377 h 21600"/>
              <a:gd name="T26" fmla="*/ 202544488 w 21600"/>
              <a:gd name="T27" fmla="*/ 21064590 h 21600"/>
              <a:gd name="T28" fmla="*/ 182893656 w 21600"/>
              <a:gd name="T29" fmla="*/ 20385440 h 21600"/>
              <a:gd name="T30" fmla="*/ 141280178 w 21600"/>
              <a:gd name="T31" fmla="*/ 24048358 h 21600"/>
              <a:gd name="T32" fmla="*/ 105446409 w 21600"/>
              <a:gd name="T33" fmla="*/ 21721450 h 21600"/>
              <a:gd name="T34" fmla="*/ 80144385 w 21600"/>
              <a:gd name="T35" fmla="*/ 22589857 h 21600"/>
              <a:gd name="T36" fmla="*/ 37246652 w 21600"/>
              <a:gd name="T37" fmla="*/ 19639489 h 21600"/>
              <a:gd name="T38" fmla="*/ 6164918 w 21600"/>
              <a:gd name="T39" fmla="*/ 16321719 h 21600"/>
              <a:gd name="T40" fmla="*/ 13742719 w 21600"/>
              <a:gd name="T41" fmla="*/ 14072756 h 21600"/>
              <a:gd name="T42" fmla="*/ 0 w 21600"/>
              <a:gd name="T43" fmla="*/ 11267101 h 21600"/>
              <a:gd name="T44" fmla="*/ 24788301 w 21600"/>
              <a:gd name="T45" fmla="*/ 7971586 h 21600"/>
              <a:gd name="T46" fmla="*/ 24788301 w 21600"/>
              <a:gd name="T47" fmla="*/ 7971586 h 21600"/>
              <a:gd name="T48" fmla="*/ 26843198 w 21600"/>
              <a:gd name="T49" fmla="*/ 8817737 h 21600"/>
              <a:gd name="T50" fmla="*/ 89520277 w 21600"/>
              <a:gd name="T51" fmla="*/ 2894712 h 21600"/>
              <a:gd name="T52" fmla="*/ 98510848 w 21600"/>
              <a:gd name="T53" fmla="*/ 3685174 h 21600"/>
              <a:gd name="T54" fmla="*/ 143977429 w 21600"/>
              <a:gd name="T55" fmla="*/ 1892704 h 21600"/>
              <a:gd name="T56" fmla="*/ 141665500 w 21600"/>
              <a:gd name="T57" fmla="*/ 2672055 h 21600"/>
              <a:gd name="T58" fmla="*/ 190985182 w 21600"/>
              <a:gd name="T59" fmla="*/ 1291499 h 21600"/>
              <a:gd name="T60" fmla="*/ 186746758 w 21600"/>
              <a:gd name="T61" fmla="*/ 2237818 h 21600"/>
              <a:gd name="T62" fmla="*/ 245442333 w 21600"/>
              <a:gd name="T63" fmla="*/ 3017168 h 21600"/>
              <a:gd name="T64" fmla="*/ 246469782 w 21600"/>
              <a:gd name="T65" fmla="*/ 3763119 h 21600"/>
              <a:gd name="T66" fmla="*/ 267533383 w 21600"/>
              <a:gd name="T67" fmla="*/ 8528245 h 21600"/>
              <a:gd name="T68" fmla="*/ 258286007 w 21600"/>
              <a:gd name="T69" fmla="*/ 10009002 h 21600"/>
              <a:gd name="T70" fmla="*/ 239662624 w 21600"/>
              <a:gd name="T71" fmla="*/ 16711377 h 21600"/>
              <a:gd name="T72" fmla="*/ 218342217 w 21600"/>
              <a:gd name="T73" fmla="*/ 12747857 h 21600"/>
              <a:gd name="T74" fmla="*/ 182893656 w 21600"/>
              <a:gd name="T75" fmla="*/ 20385440 h 21600"/>
              <a:gd name="T76" fmla="*/ 184563345 w 21600"/>
              <a:gd name="T77" fmla="*/ 19327742 h 21600"/>
              <a:gd name="T78" fmla="*/ 105574812 w 21600"/>
              <a:gd name="T79" fmla="*/ 21721450 h 21600"/>
              <a:gd name="T80" fmla="*/ 100951180 w 21600"/>
              <a:gd name="T81" fmla="*/ 20752843 h 21600"/>
              <a:gd name="T82" fmla="*/ 37246652 w 21600"/>
              <a:gd name="T83" fmla="*/ 19639489 h 21600"/>
              <a:gd name="T84" fmla="*/ 44439018 w 21600"/>
              <a:gd name="T85" fmla="*/ 19427943 h 21600"/>
              <a:gd name="T86" fmla="*/ 13742719 w 21600"/>
              <a:gd name="T87" fmla="*/ 14072756 h 21600"/>
              <a:gd name="T88" fmla="*/ 29925770 w 21600"/>
              <a:gd name="T89" fmla="*/ 14518071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 Coaching</a:t>
            </a:r>
          </a:p>
        </p:txBody>
      </p:sp>
      <p:sp>
        <p:nvSpPr>
          <p:cNvPr id="28679" name="Freeform 6">
            <a:extLst>
              <a:ext uri="{FF2B5EF4-FFF2-40B4-BE49-F238E27FC236}">
                <a16:creationId xmlns:a16="http://schemas.microsoft.com/office/drawing/2014/main" id="{D9B1EA41-C0C6-4436-BD83-E625521E0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5256213"/>
            <a:ext cx="2447925" cy="720725"/>
          </a:xfrm>
          <a:custGeom>
            <a:avLst/>
            <a:gdLst>
              <a:gd name="T0" fmla="*/ 24788301 w 21600"/>
              <a:gd name="T1" fmla="*/ 7971586 h 21600"/>
              <a:gd name="T2" fmla="*/ 67686033 w 21600"/>
              <a:gd name="T3" fmla="*/ 2193306 h 21600"/>
              <a:gd name="T4" fmla="*/ 89520277 w 21600"/>
              <a:gd name="T5" fmla="*/ 2894712 h 21600"/>
              <a:gd name="T6" fmla="*/ 119959771 w 21600"/>
              <a:gd name="T7" fmla="*/ 723661 h 21600"/>
              <a:gd name="T8" fmla="*/ 143977429 w 21600"/>
              <a:gd name="T9" fmla="*/ 1892704 h 21600"/>
              <a:gd name="T10" fmla="*/ 168894132 w 21600"/>
              <a:gd name="T11" fmla="*/ 0 h 21600"/>
              <a:gd name="T12" fmla="*/ 190985182 w 21600"/>
              <a:gd name="T13" fmla="*/ 1291499 h 21600"/>
              <a:gd name="T14" fmla="*/ 215002839 w 21600"/>
              <a:gd name="T15" fmla="*/ 0 h 21600"/>
              <a:gd name="T16" fmla="*/ 245442333 w 21600"/>
              <a:gd name="T17" fmla="*/ 3017168 h 21600"/>
              <a:gd name="T18" fmla="*/ 270487439 w 21600"/>
              <a:gd name="T19" fmla="*/ 6925033 h 21600"/>
              <a:gd name="T20" fmla="*/ 267533383 w 21600"/>
              <a:gd name="T21" fmla="*/ 8528245 h 21600"/>
              <a:gd name="T22" fmla="*/ 277423000 w 21600"/>
              <a:gd name="T23" fmla="*/ 11645648 h 21600"/>
              <a:gd name="T24" fmla="*/ 239534221 w 21600"/>
              <a:gd name="T25" fmla="*/ 16711377 h 21600"/>
              <a:gd name="T26" fmla="*/ 202544488 w 21600"/>
              <a:gd name="T27" fmla="*/ 21064590 h 21600"/>
              <a:gd name="T28" fmla="*/ 182893656 w 21600"/>
              <a:gd name="T29" fmla="*/ 20385440 h 21600"/>
              <a:gd name="T30" fmla="*/ 141280178 w 21600"/>
              <a:gd name="T31" fmla="*/ 24048358 h 21600"/>
              <a:gd name="T32" fmla="*/ 105446409 w 21600"/>
              <a:gd name="T33" fmla="*/ 21721450 h 21600"/>
              <a:gd name="T34" fmla="*/ 80144385 w 21600"/>
              <a:gd name="T35" fmla="*/ 22589857 h 21600"/>
              <a:gd name="T36" fmla="*/ 37246652 w 21600"/>
              <a:gd name="T37" fmla="*/ 19639489 h 21600"/>
              <a:gd name="T38" fmla="*/ 6164918 w 21600"/>
              <a:gd name="T39" fmla="*/ 16321719 h 21600"/>
              <a:gd name="T40" fmla="*/ 13742719 w 21600"/>
              <a:gd name="T41" fmla="*/ 14072756 h 21600"/>
              <a:gd name="T42" fmla="*/ 0 w 21600"/>
              <a:gd name="T43" fmla="*/ 11267101 h 21600"/>
              <a:gd name="T44" fmla="*/ 24788301 w 21600"/>
              <a:gd name="T45" fmla="*/ 7971586 h 21600"/>
              <a:gd name="T46" fmla="*/ 24788301 w 21600"/>
              <a:gd name="T47" fmla="*/ 7971586 h 21600"/>
              <a:gd name="T48" fmla="*/ 26843198 w 21600"/>
              <a:gd name="T49" fmla="*/ 8817737 h 21600"/>
              <a:gd name="T50" fmla="*/ 89520277 w 21600"/>
              <a:gd name="T51" fmla="*/ 2894712 h 21600"/>
              <a:gd name="T52" fmla="*/ 98510848 w 21600"/>
              <a:gd name="T53" fmla="*/ 3685174 h 21600"/>
              <a:gd name="T54" fmla="*/ 143977429 w 21600"/>
              <a:gd name="T55" fmla="*/ 1892704 h 21600"/>
              <a:gd name="T56" fmla="*/ 141665500 w 21600"/>
              <a:gd name="T57" fmla="*/ 2672055 h 21600"/>
              <a:gd name="T58" fmla="*/ 190985182 w 21600"/>
              <a:gd name="T59" fmla="*/ 1291499 h 21600"/>
              <a:gd name="T60" fmla="*/ 186746758 w 21600"/>
              <a:gd name="T61" fmla="*/ 2237818 h 21600"/>
              <a:gd name="T62" fmla="*/ 245442333 w 21600"/>
              <a:gd name="T63" fmla="*/ 3017168 h 21600"/>
              <a:gd name="T64" fmla="*/ 246469782 w 21600"/>
              <a:gd name="T65" fmla="*/ 3763119 h 21600"/>
              <a:gd name="T66" fmla="*/ 267533383 w 21600"/>
              <a:gd name="T67" fmla="*/ 8528245 h 21600"/>
              <a:gd name="T68" fmla="*/ 258286007 w 21600"/>
              <a:gd name="T69" fmla="*/ 10009002 h 21600"/>
              <a:gd name="T70" fmla="*/ 239662624 w 21600"/>
              <a:gd name="T71" fmla="*/ 16711377 h 21600"/>
              <a:gd name="T72" fmla="*/ 218342217 w 21600"/>
              <a:gd name="T73" fmla="*/ 12747857 h 21600"/>
              <a:gd name="T74" fmla="*/ 182893656 w 21600"/>
              <a:gd name="T75" fmla="*/ 20385440 h 21600"/>
              <a:gd name="T76" fmla="*/ 184563345 w 21600"/>
              <a:gd name="T77" fmla="*/ 19327742 h 21600"/>
              <a:gd name="T78" fmla="*/ 105574812 w 21600"/>
              <a:gd name="T79" fmla="*/ 21721450 h 21600"/>
              <a:gd name="T80" fmla="*/ 100951180 w 21600"/>
              <a:gd name="T81" fmla="*/ 20752843 h 21600"/>
              <a:gd name="T82" fmla="*/ 37246652 w 21600"/>
              <a:gd name="T83" fmla="*/ 19639489 h 21600"/>
              <a:gd name="T84" fmla="*/ 44439018 w 21600"/>
              <a:gd name="T85" fmla="*/ 19427943 h 21600"/>
              <a:gd name="T86" fmla="*/ 13742719 w 21600"/>
              <a:gd name="T87" fmla="*/ 14072756 h 21600"/>
              <a:gd name="T88" fmla="*/ 29925770 w 21600"/>
              <a:gd name="T89" fmla="*/ 14518071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 Workshops</a:t>
            </a:r>
          </a:p>
        </p:txBody>
      </p:sp>
      <p:sp>
        <p:nvSpPr>
          <p:cNvPr id="28680" name="Freeform 7">
            <a:extLst>
              <a:ext uri="{FF2B5EF4-FFF2-40B4-BE49-F238E27FC236}">
                <a16:creationId xmlns:a16="http://schemas.microsoft.com/office/drawing/2014/main" id="{D783B0E4-A469-40D9-8732-7D745E4DD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8738" y="5256213"/>
            <a:ext cx="1584325" cy="720725"/>
          </a:xfrm>
          <a:custGeom>
            <a:avLst/>
            <a:gdLst>
              <a:gd name="T0" fmla="*/ 10383343 w 21600"/>
              <a:gd name="T1" fmla="*/ 7971586 h 21600"/>
              <a:gd name="T2" fmla="*/ 28352523 w 21600"/>
              <a:gd name="T3" fmla="*/ 2193306 h 21600"/>
              <a:gd name="T4" fmla="*/ 37498479 w 21600"/>
              <a:gd name="T5" fmla="*/ 2894712 h 21600"/>
              <a:gd name="T6" fmla="*/ 50249068 w 21600"/>
              <a:gd name="T7" fmla="*/ 723661 h 21600"/>
              <a:gd name="T8" fmla="*/ 60309605 w 21600"/>
              <a:gd name="T9" fmla="*/ 1892704 h 21600"/>
              <a:gd name="T10" fmla="*/ 70746786 w 21600"/>
              <a:gd name="T11" fmla="*/ 0 h 21600"/>
              <a:gd name="T12" fmla="*/ 80000344 w 21600"/>
              <a:gd name="T13" fmla="*/ 1291499 h 21600"/>
              <a:gd name="T14" fmla="*/ 90060955 w 21600"/>
              <a:gd name="T15" fmla="*/ 0 h 21600"/>
              <a:gd name="T16" fmla="*/ 102811544 w 21600"/>
              <a:gd name="T17" fmla="*/ 3017168 h 21600"/>
              <a:gd name="T18" fmla="*/ 113302489 w 21600"/>
              <a:gd name="T19" fmla="*/ 6925033 h 21600"/>
              <a:gd name="T20" fmla="*/ 112065102 w 21600"/>
              <a:gd name="T21" fmla="*/ 8528245 h 21600"/>
              <a:gd name="T22" fmla="*/ 116207672 w 21600"/>
              <a:gd name="T23" fmla="*/ 11645648 h 21600"/>
              <a:gd name="T24" fmla="*/ 100336696 w 21600"/>
              <a:gd name="T25" fmla="*/ 16711377 h 21600"/>
              <a:gd name="T26" fmla="*/ 84842364 w 21600"/>
              <a:gd name="T27" fmla="*/ 21064590 h 21600"/>
              <a:gd name="T28" fmla="*/ 76610989 w 21600"/>
              <a:gd name="T29" fmla="*/ 20385440 h 21600"/>
              <a:gd name="T30" fmla="*/ 59179820 w 21600"/>
              <a:gd name="T31" fmla="*/ 24048358 h 21600"/>
              <a:gd name="T32" fmla="*/ 44169661 w 21600"/>
              <a:gd name="T33" fmla="*/ 21721450 h 21600"/>
              <a:gd name="T34" fmla="*/ 33571113 w 21600"/>
              <a:gd name="T35" fmla="*/ 22589857 h 21600"/>
              <a:gd name="T36" fmla="*/ 15601934 w 21600"/>
              <a:gd name="T37" fmla="*/ 19639489 h 21600"/>
              <a:gd name="T38" fmla="*/ 2582376 w 21600"/>
              <a:gd name="T39" fmla="*/ 16321719 h 21600"/>
              <a:gd name="T40" fmla="*/ 5756601 w 21600"/>
              <a:gd name="T41" fmla="*/ 14072756 h 21600"/>
              <a:gd name="T42" fmla="*/ 0 w 21600"/>
              <a:gd name="T43" fmla="*/ 11267101 h 21600"/>
              <a:gd name="T44" fmla="*/ 10383343 w 21600"/>
              <a:gd name="T45" fmla="*/ 7971586 h 21600"/>
              <a:gd name="T46" fmla="*/ 10383343 w 21600"/>
              <a:gd name="T47" fmla="*/ 7971586 h 21600"/>
              <a:gd name="T48" fmla="*/ 11244160 w 21600"/>
              <a:gd name="T49" fmla="*/ 8817737 h 21600"/>
              <a:gd name="T50" fmla="*/ 37498479 w 21600"/>
              <a:gd name="T51" fmla="*/ 2894712 h 21600"/>
              <a:gd name="T52" fmla="*/ 41264478 w 21600"/>
              <a:gd name="T53" fmla="*/ 3685174 h 21600"/>
              <a:gd name="T54" fmla="*/ 60309605 w 21600"/>
              <a:gd name="T55" fmla="*/ 1892704 h 21600"/>
              <a:gd name="T56" fmla="*/ 59341260 w 21600"/>
              <a:gd name="T57" fmla="*/ 2672055 h 21600"/>
              <a:gd name="T58" fmla="*/ 80000344 w 21600"/>
              <a:gd name="T59" fmla="*/ 1291499 h 21600"/>
              <a:gd name="T60" fmla="*/ 78224947 w 21600"/>
              <a:gd name="T61" fmla="*/ 2237818 h 21600"/>
              <a:gd name="T62" fmla="*/ 102811544 w 21600"/>
              <a:gd name="T63" fmla="*/ 3017168 h 21600"/>
              <a:gd name="T64" fmla="*/ 103241878 w 21600"/>
              <a:gd name="T65" fmla="*/ 3763119 h 21600"/>
              <a:gd name="T66" fmla="*/ 112065102 w 21600"/>
              <a:gd name="T67" fmla="*/ 8528245 h 21600"/>
              <a:gd name="T68" fmla="*/ 108191500 w 21600"/>
              <a:gd name="T69" fmla="*/ 10009002 h 21600"/>
              <a:gd name="T70" fmla="*/ 100390534 w 21600"/>
              <a:gd name="T71" fmla="*/ 16711377 h 21600"/>
              <a:gd name="T72" fmla="*/ 91459708 w 21600"/>
              <a:gd name="T73" fmla="*/ 12747857 h 21600"/>
              <a:gd name="T74" fmla="*/ 76610989 w 21600"/>
              <a:gd name="T75" fmla="*/ 20385440 h 21600"/>
              <a:gd name="T76" fmla="*/ 77310366 w 21600"/>
              <a:gd name="T77" fmla="*/ 19327742 h 21600"/>
              <a:gd name="T78" fmla="*/ 44223498 w 21600"/>
              <a:gd name="T79" fmla="*/ 21721450 h 21600"/>
              <a:gd name="T80" fmla="*/ 42286661 w 21600"/>
              <a:gd name="T81" fmla="*/ 20752843 h 21600"/>
              <a:gd name="T82" fmla="*/ 15601934 w 21600"/>
              <a:gd name="T83" fmla="*/ 19639489 h 21600"/>
              <a:gd name="T84" fmla="*/ 18614719 w 21600"/>
              <a:gd name="T85" fmla="*/ 19427943 h 21600"/>
              <a:gd name="T86" fmla="*/ 5756601 w 21600"/>
              <a:gd name="T87" fmla="*/ 14072756 h 21600"/>
              <a:gd name="T88" fmla="*/ 12535385 w 21600"/>
              <a:gd name="T89" fmla="*/ 14518071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 1-2-1</a:t>
            </a:r>
          </a:p>
        </p:txBody>
      </p:sp>
      <p:sp>
        <p:nvSpPr>
          <p:cNvPr id="28681" name="Freeform 8">
            <a:extLst>
              <a:ext uri="{FF2B5EF4-FFF2-40B4-BE49-F238E27FC236}">
                <a16:creationId xmlns:a16="http://schemas.microsoft.com/office/drawing/2014/main" id="{5770DFD4-9D3B-4C80-B4EB-8146987AFAA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384550" y="5400675"/>
            <a:ext cx="2016125" cy="720725"/>
          </a:xfrm>
          <a:custGeom>
            <a:avLst/>
            <a:gdLst>
              <a:gd name="T0" fmla="*/ 16814576 w 21600"/>
              <a:gd name="T1" fmla="*/ 7971586 h 21600"/>
              <a:gd name="T2" fmla="*/ 45913233 w 21600"/>
              <a:gd name="T3" fmla="*/ 2193306 h 21600"/>
              <a:gd name="T4" fmla="*/ 60724005 w 21600"/>
              <a:gd name="T5" fmla="*/ 2894712 h 21600"/>
              <a:gd name="T6" fmla="*/ 81371832 w 21600"/>
              <a:gd name="T7" fmla="*/ 723661 h 21600"/>
              <a:gd name="T8" fmla="*/ 97663708 w 21600"/>
              <a:gd name="T9" fmla="*/ 1892704 h 21600"/>
              <a:gd name="T10" fmla="*/ 114565276 w 21600"/>
              <a:gd name="T11" fmla="*/ 0 h 21600"/>
              <a:gd name="T12" fmla="*/ 129550312 w 21600"/>
              <a:gd name="T13" fmla="*/ 1291499 h 21600"/>
              <a:gd name="T14" fmla="*/ 145842096 w 21600"/>
              <a:gd name="T15" fmla="*/ 0 h 21600"/>
              <a:gd name="T16" fmla="*/ 166490016 w 21600"/>
              <a:gd name="T17" fmla="*/ 3017168 h 21600"/>
              <a:gd name="T18" fmla="*/ 183478762 w 21600"/>
              <a:gd name="T19" fmla="*/ 6925033 h 21600"/>
              <a:gd name="T20" fmla="*/ 181474958 w 21600"/>
              <a:gd name="T21" fmla="*/ 8528245 h 21600"/>
              <a:gd name="T22" fmla="*/ 188183334 w 21600"/>
              <a:gd name="T23" fmla="*/ 11645648 h 21600"/>
              <a:gd name="T24" fmla="*/ 162482407 w 21600"/>
              <a:gd name="T25" fmla="*/ 16711377 h 21600"/>
              <a:gd name="T26" fmla="*/ 137391265 w 21600"/>
              <a:gd name="T27" fmla="*/ 21064590 h 21600"/>
              <a:gd name="T28" fmla="*/ 124061599 w 21600"/>
              <a:gd name="T29" fmla="*/ 20385440 h 21600"/>
              <a:gd name="T30" fmla="*/ 95834075 w 21600"/>
              <a:gd name="T31" fmla="*/ 24048358 h 21600"/>
              <a:gd name="T32" fmla="*/ 71527075 w 21600"/>
              <a:gd name="T33" fmla="*/ 21721450 h 21600"/>
              <a:gd name="T34" fmla="*/ 54364064 w 21600"/>
              <a:gd name="T35" fmla="*/ 22589857 h 21600"/>
              <a:gd name="T36" fmla="*/ 25265313 w 21600"/>
              <a:gd name="T37" fmla="*/ 19639489 h 21600"/>
              <a:gd name="T38" fmla="*/ 4181873 w 21600"/>
              <a:gd name="T39" fmla="*/ 16321719 h 21600"/>
              <a:gd name="T40" fmla="*/ 9322058 w 21600"/>
              <a:gd name="T41" fmla="*/ 14072756 h 21600"/>
              <a:gd name="T42" fmla="*/ 0 w 21600"/>
              <a:gd name="T43" fmla="*/ 11267101 h 21600"/>
              <a:gd name="T44" fmla="*/ 16814576 w 21600"/>
              <a:gd name="T45" fmla="*/ 7971586 h 21600"/>
              <a:gd name="T46" fmla="*/ 16814576 w 21600"/>
              <a:gd name="T47" fmla="*/ 7971586 h 21600"/>
              <a:gd name="T48" fmla="*/ 18208502 w 21600"/>
              <a:gd name="T49" fmla="*/ 8817737 h 21600"/>
              <a:gd name="T50" fmla="*/ 60724005 w 21600"/>
              <a:gd name="T51" fmla="*/ 2894712 h 21600"/>
              <a:gd name="T52" fmla="*/ 66822503 w 21600"/>
              <a:gd name="T53" fmla="*/ 3685174 h 21600"/>
              <a:gd name="T54" fmla="*/ 97663708 w 21600"/>
              <a:gd name="T55" fmla="*/ 1892704 h 21600"/>
              <a:gd name="T56" fmla="*/ 96095425 w 21600"/>
              <a:gd name="T57" fmla="*/ 2672055 h 21600"/>
              <a:gd name="T58" fmla="*/ 129550312 w 21600"/>
              <a:gd name="T59" fmla="*/ 1291499 h 21600"/>
              <a:gd name="T60" fmla="*/ 126675281 w 21600"/>
              <a:gd name="T61" fmla="*/ 2237818 h 21600"/>
              <a:gd name="T62" fmla="*/ 166490016 w 21600"/>
              <a:gd name="T63" fmla="*/ 3017168 h 21600"/>
              <a:gd name="T64" fmla="*/ 167186979 w 21600"/>
              <a:gd name="T65" fmla="*/ 3763119 h 21600"/>
              <a:gd name="T66" fmla="*/ 181474958 w 21600"/>
              <a:gd name="T67" fmla="*/ 8528245 h 21600"/>
              <a:gd name="T68" fmla="*/ 175202196 w 21600"/>
              <a:gd name="T69" fmla="*/ 10009002 h 21600"/>
              <a:gd name="T70" fmla="*/ 162569493 w 21600"/>
              <a:gd name="T71" fmla="*/ 16711377 h 21600"/>
              <a:gd name="T72" fmla="*/ 148107249 w 21600"/>
              <a:gd name="T73" fmla="*/ 12747857 h 21600"/>
              <a:gd name="T74" fmla="*/ 124061599 w 21600"/>
              <a:gd name="T75" fmla="*/ 20385440 h 21600"/>
              <a:gd name="T76" fmla="*/ 125194175 w 21600"/>
              <a:gd name="T77" fmla="*/ 19327742 h 21600"/>
              <a:gd name="T78" fmla="*/ 71614253 w 21600"/>
              <a:gd name="T79" fmla="*/ 21721450 h 21600"/>
              <a:gd name="T80" fmla="*/ 68477779 w 21600"/>
              <a:gd name="T81" fmla="*/ 20752843 h 21600"/>
              <a:gd name="T82" fmla="*/ 25265313 w 21600"/>
              <a:gd name="T83" fmla="*/ 19639489 h 21600"/>
              <a:gd name="T84" fmla="*/ 30144149 w 21600"/>
              <a:gd name="T85" fmla="*/ 19427943 h 21600"/>
              <a:gd name="T86" fmla="*/ 9322058 w 21600"/>
              <a:gd name="T87" fmla="*/ 14072756 h 21600"/>
              <a:gd name="T88" fmla="*/ 20299392 w 21600"/>
              <a:gd name="T89" fmla="*/ 14518071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Courses</a:t>
            </a:r>
          </a:p>
        </p:txBody>
      </p:sp>
      <p:sp>
        <p:nvSpPr>
          <p:cNvPr id="28682" name="Freeform 9">
            <a:extLst>
              <a:ext uri="{FF2B5EF4-FFF2-40B4-BE49-F238E27FC236}">
                <a16:creationId xmlns:a16="http://schemas.microsoft.com/office/drawing/2014/main" id="{3B099957-FAB8-4871-9031-9EE74ACBF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6264275"/>
            <a:ext cx="1655762" cy="720725"/>
          </a:xfrm>
          <a:custGeom>
            <a:avLst/>
            <a:gdLst>
              <a:gd name="T0" fmla="*/ 11340820 w 21600"/>
              <a:gd name="T1" fmla="*/ 7971586 h 21600"/>
              <a:gd name="T2" fmla="*/ 30966965 w 21600"/>
              <a:gd name="T3" fmla="*/ 2193306 h 21600"/>
              <a:gd name="T4" fmla="*/ 40956346 w 21600"/>
              <a:gd name="T5" fmla="*/ 2894712 h 21600"/>
              <a:gd name="T6" fmla="*/ 54882684 w 21600"/>
              <a:gd name="T7" fmla="*/ 723661 h 21600"/>
              <a:gd name="T8" fmla="*/ 65870965 w 21600"/>
              <a:gd name="T9" fmla="*/ 1892704 h 21600"/>
              <a:gd name="T10" fmla="*/ 77270580 w 21600"/>
              <a:gd name="T11" fmla="*/ 0 h 21600"/>
              <a:gd name="T12" fmla="*/ 87377397 w 21600"/>
              <a:gd name="T13" fmla="*/ 1291499 h 21600"/>
              <a:gd name="T14" fmla="*/ 98365754 w 21600"/>
              <a:gd name="T15" fmla="*/ 0 h 21600"/>
              <a:gd name="T16" fmla="*/ 112292016 w 21600"/>
              <a:gd name="T17" fmla="*/ 3017168 h 21600"/>
              <a:gd name="T18" fmla="*/ 123750425 w 21600"/>
              <a:gd name="T19" fmla="*/ 6925033 h 21600"/>
              <a:gd name="T20" fmla="*/ 122398910 w 21600"/>
              <a:gd name="T21" fmla="*/ 8528245 h 21600"/>
              <a:gd name="T22" fmla="*/ 126923509 w 21600"/>
              <a:gd name="T23" fmla="*/ 11645648 h 21600"/>
              <a:gd name="T24" fmla="*/ 109589061 w 21600"/>
              <a:gd name="T25" fmla="*/ 16711377 h 21600"/>
              <a:gd name="T26" fmla="*/ 92665947 w 21600"/>
              <a:gd name="T27" fmla="*/ 21064590 h 21600"/>
              <a:gd name="T28" fmla="*/ 83675466 w 21600"/>
              <a:gd name="T29" fmla="*/ 20385440 h 21600"/>
              <a:gd name="T30" fmla="*/ 64636962 w 21600"/>
              <a:gd name="T31" fmla="*/ 24048358 h 21600"/>
              <a:gd name="T32" fmla="*/ 48242696 w 21600"/>
              <a:gd name="T33" fmla="*/ 21721450 h 21600"/>
              <a:gd name="T34" fmla="*/ 36666773 w 21600"/>
              <a:gd name="T35" fmla="*/ 22589857 h 21600"/>
              <a:gd name="T36" fmla="*/ 17040627 w 21600"/>
              <a:gd name="T37" fmla="*/ 19639489 h 21600"/>
              <a:gd name="T38" fmla="*/ 2820545 w 21600"/>
              <a:gd name="T39" fmla="*/ 16321719 h 21600"/>
              <a:gd name="T40" fmla="*/ 6287450 w 21600"/>
              <a:gd name="T41" fmla="*/ 14072756 h 21600"/>
              <a:gd name="T42" fmla="*/ 0 w 21600"/>
              <a:gd name="T43" fmla="*/ 11267101 h 21600"/>
              <a:gd name="T44" fmla="*/ 11340820 w 21600"/>
              <a:gd name="T45" fmla="*/ 7971586 h 21600"/>
              <a:gd name="T46" fmla="*/ 11340820 w 21600"/>
              <a:gd name="T47" fmla="*/ 7971586 h 21600"/>
              <a:gd name="T48" fmla="*/ 12281001 w 21600"/>
              <a:gd name="T49" fmla="*/ 8817737 h 21600"/>
              <a:gd name="T50" fmla="*/ 40956346 w 21600"/>
              <a:gd name="T51" fmla="*/ 2894712 h 21600"/>
              <a:gd name="T52" fmla="*/ 45069612 w 21600"/>
              <a:gd name="T53" fmla="*/ 3685174 h 21600"/>
              <a:gd name="T54" fmla="*/ 65870965 w 21600"/>
              <a:gd name="T55" fmla="*/ 1892704 h 21600"/>
              <a:gd name="T56" fmla="*/ 64813270 w 21600"/>
              <a:gd name="T57" fmla="*/ 2672055 h 21600"/>
              <a:gd name="T58" fmla="*/ 87377397 w 21600"/>
              <a:gd name="T59" fmla="*/ 1291499 h 21600"/>
              <a:gd name="T60" fmla="*/ 85438316 w 21600"/>
              <a:gd name="T61" fmla="*/ 2237818 h 21600"/>
              <a:gd name="T62" fmla="*/ 112292016 w 21600"/>
              <a:gd name="T63" fmla="*/ 3017168 h 21600"/>
              <a:gd name="T64" fmla="*/ 112762145 w 21600"/>
              <a:gd name="T65" fmla="*/ 3763119 h 21600"/>
              <a:gd name="T66" fmla="*/ 122398910 w 21600"/>
              <a:gd name="T67" fmla="*/ 8528245 h 21600"/>
              <a:gd name="T68" fmla="*/ 118168131 w 21600"/>
              <a:gd name="T69" fmla="*/ 10009002 h 21600"/>
              <a:gd name="T70" fmla="*/ 109647779 w 21600"/>
              <a:gd name="T71" fmla="*/ 16711377 h 21600"/>
              <a:gd name="T72" fmla="*/ 99893501 w 21600"/>
              <a:gd name="T73" fmla="*/ 12747857 h 21600"/>
              <a:gd name="T74" fmla="*/ 83675466 w 21600"/>
              <a:gd name="T75" fmla="*/ 20385440 h 21600"/>
              <a:gd name="T76" fmla="*/ 84439416 w 21600"/>
              <a:gd name="T77" fmla="*/ 19327742 h 21600"/>
              <a:gd name="T78" fmla="*/ 48301414 w 21600"/>
              <a:gd name="T79" fmla="*/ 21721450 h 21600"/>
              <a:gd name="T80" fmla="*/ 46186025 w 21600"/>
              <a:gd name="T81" fmla="*/ 20752843 h 21600"/>
              <a:gd name="T82" fmla="*/ 17040627 w 21600"/>
              <a:gd name="T83" fmla="*/ 19639489 h 21600"/>
              <a:gd name="T84" fmla="*/ 20331301 w 21600"/>
              <a:gd name="T85" fmla="*/ 19427943 h 21600"/>
              <a:gd name="T86" fmla="*/ 6287450 w 21600"/>
              <a:gd name="T87" fmla="*/ 14072756 h 21600"/>
              <a:gd name="T88" fmla="*/ 13691312 w 21600"/>
              <a:gd name="T89" fmla="*/ 14518071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 Intranet</a:t>
            </a:r>
          </a:p>
        </p:txBody>
      </p:sp>
      <p:sp>
        <p:nvSpPr>
          <p:cNvPr id="28683" name="Freeform 10">
            <a:extLst>
              <a:ext uri="{FF2B5EF4-FFF2-40B4-BE49-F238E27FC236}">
                <a16:creationId xmlns:a16="http://schemas.microsoft.com/office/drawing/2014/main" id="{7966E7F1-1939-40AF-B776-74059043481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040313" y="6551613"/>
            <a:ext cx="2016125" cy="720725"/>
          </a:xfrm>
          <a:custGeom>
            <a:avLst/>
            <a:gdLst>
              <a:gd name="T0" fmla="*/ 16814576 w 21600"/>
              <a:gd name="T1" fmla="*/ 7971586 h 21600"/>
              <a:gd name="T2" fmla="*/ 45913233 w 21600"/>
              <a:gd name="T3" fmla="*/ 2193306 h 21600"/>
              <a:gd name="T4" fmla="*/ 60724005 w 21600"/>
              <a:gd name="T5" fmla="*/ 2894712 h 21600"/>
              <a:gd name="T6" fmla="*/ 81371832 w 21600"/>
              <a:gd name="T7" fmla="*/ 723661 h 21600"/>
              <a:gd name="T8" fmla="*/ 97663708 w 21600"/>
              <a:gd name="T9" fmla="*/ 1892704 h 21600"/>
              <a:gd name="T10" fmla="*/ 114565276 w 21600"/>
              <a:gd name="T11" fmla="*/ 0 h 21600"/>
              <a:gd name="T12" fmla="*/ 129550312 w 21600"/>
              <a:gd name="T13" fmla="*/ 1291499 h 21600"/>
              <a:gd name="T14" fmla="*/ 145842096 w 21600"/>
              <a:gd name="T15" fmla="*/ 0 h 21600"/>
              <a:gd name="T16" fmla="*/ 166490016 w 21600"/>
              <a:gd name="T17" fmla="*/ 3017168 h 21600"/>
              <a:gd name="T18" fmla="*/ 183478762 w 21600"/>
              <a:gd name="T19" fmla="*/ 6925033 h 21600"/>
              <a:gd name="T20" fmla="*/ 181474958 w 21600"/>
              <a:gd name="T21" fmla="*/ 8528245 h 21600"/>
              <a:gd name="T22" fmla="*/ 188183334 w 21600"/>
              <a:gd name="T23" fmla="*/ 11645648 h 21600"/>
              <a:gd name="T24" fmla="*/ 162482407 w 21600"/>
              <a:gd name="T25" fmla="*/ 16711377 h 21600"/>
              <a:gd name="T26" fmla="*/ 137391265 w 21600"/>
              <a:gd name="T27" fmla="*/ 21064590 h 21600"/>
              <a:gd name="T28" fmla="*/ 124061599 w 21600"/>
              <a:gd name="T29" fmla="*/ 20385440 h 21600"/>
              <a:gd name="T30" fmla="*/ 95834075 w 21600"/>
              <a:gd name="T31" fmla="*/ 24048358 h 21600"/>
              <a:gd name="T32" fmla="*/ 71527075 w 21600"/>
              <a:gd name="T33" fmla="*/ 21721450 h 21600"/>
              <a:gd name="T34" fmla="*/ 54364064 w 21600"/>
              <a:gd name="T35" fmla="*/ 22589857 h 21600"/>
              <a:gd name="T36" fmla="*/ 25265313 w 21600"/>
              <a:gd name="T37" fmla="*/ 19639489 h 21600"/>
              <a:gd name="T38" fmla="*/ 4181873 w 21600"/>
              <a:gd name="T39" fmla="*/ 16321719 h 21600"/>
              <a:gd name="T40" fmla="*/ 9322058 w 21600"/>
              <a:gd name="T41" fmla="*/ 14072756 h 21600"/>
              <a:gd name="T42" fmla="*/ 0 w 21600"/>
              <a:gd name="T43" fmla="*/ 11267101 h 21600"/>
              <a:gd name="T44" fmla="*/ 16814576 w 21600"/>
              <a:gd name="T45" fmla="*/ 7971586 h 21600"/>
              <a:gd name="T46" fmla="*/ 16814576 w 21600"/>
              <a:gd name="T47" fmla="*/ 7971586 h 21600"/>
              <a:gd name="T48" fmla="*/ 18208502 w 21600"/>
              <a:gd name="T49" fmla="*/ 8817737 h 21600"/>
              <a:gd name="T50" fmla="*/ 60724005 w 21600"/>
              <a:gd name="T51" fmla="*/ 2894712 h 21600"/>
              <a:gd name="T52" fmla="*/ 66822503 w 21600"/>
              <a:gd name="T53" fmla="*/ 3685174 h 21600"/>
              <a:gd name="T54" fmla="*/ 97663708 w 21600"/>
              <a:gd name="T55" fmla="*/ 1892704 h 21600"/>
              <a:gd name="T56" fmla="*/ 96095425 w 21600"/>
              <a:gd name="T57" fmla="*/ 2672055 h 21600"/>
              <a:gd name="T58" fmla="*/ 129550312 w 21600"/>
              <a:gd name="T59" fmla="*/ 1291499 h 21600"/>
              <a:gd name="T60" fmla="*/ 126675281 w 21600"/>
              <a:gd name="T61" fmla="*/ 2237818 h 21600"/>
              <a:gd name="T62" fmla="*/ 166490016 w 21600"/>
              <a:gd name="T63" fmla="*/ 3017168 h 21600"/>
              <a:gd name="T64" fmla="*/ 167186979 w 21600"/>
              <a:gd name="T65" fmla="*/ 3763119 h 21600"/>
              <a:gd name="T66" fmla="*/ 181474958 w 21600"/>
              <a:gd name="T67" fmla="*/ 8528245 h 21600"/>
              <a:gd name="T68" fmla="*/ 175202196 w 21600"/>
              <a:gd name="T69" fmla="*/ 10009002 h 21600"/>
              <a:gd name="T70" fmla="*/ 162569493 w 21600"/>
              <a:gd name="T71" fmla="*/ 16711377 h 21600"/>
              <a:gd name="T72" fmla="*/ 148107249 w 21600"/>
              <a:gd name="T73" fmla="*/ 12747857 h 21600"/>
              <a:gd name="T74" fmla="*/ 124061599 w 21600"/>
              <a:gd name="T75" fmla="*/ 20385440 h 21600"/>
              <a:gd name="T76" fmla="*/ 125194175 w 21600"/>
              <a:gd name="T77" fmla="*/ 19327742 h 21600"/>
              <a:gd name="T78" fmla="*/ 71614253 w 21600"/>
              <a:gd name="T79" fmla="*/ 21721450 h 21600"/>
              <a:gd name="T80" fmla="*/ 68477779 w 21600"/>
              <a:gd name="T81" fmla="*/ 20752843 h 21600"/>
              <a:gd name="T82" fmla="*/ 25265313 w 21600"/>
              <a:gd name="T83" fmla="*/ 19639489 h 21600"/>
              <a:gd name="T84" fmla="*/ 30144149 w 21600"/>
              <a:gd name="T85" fmla="*/ 19427943 h 21600"/>
              <a:gd name="T86" fmla="*/ 9322058 w 21600"/>
              <a:gd name="T87" fmla="*/ 14072756 h 21600"/>
              <a:gd name="T88" fmla="*/ 20299392 w 21600"/>
              <a:gd name="T89" fmla="*/ 14518071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Online</a:t>
            </a:r>
          </a:p>
        </p:txBody>
      </p:sp>
      <p:sp>
        <p:nvSpPr>
          <p:cNvPr id="28684" name="Freeform 11">
            <a:extLst>
              <a:ext uri="{FF2B5EF4-FFF2-40B4-BE49-F238E27FC236}">
                <a16:creationId xmlns:a16="http://schemas.microsoft.com/office/drawing/2014/main" id="{2E30B085-D208-485C-9EED-66EB8F01B98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205788" y="4392613"/>
            <a:ext cx="1584325" cy="720725"/>
          </a:xfrm>
          <a:custGeom>
            <a:avLst/>
            <a:gdLst>
              <a:gd name="T0" fmla="*/ 10383343 w 21600"/>
              <a:gd name="T1" fmla="*/ 7971586 h 21600"/>
              <a:gd name="T2" fmla="*/ 28352523 w 21600"/>
              <a:gd name="T3" fmla="*/ 2193306 h 21600"/>
              <a:gd name="T4" fmla="*/ 37498479 w 21600"/>
              <a:gd name="T5" fmla="*/ 2894712 h 21600"/>
              <a:gd name="T6" fmla="*/ 50249068 w 21600"/>
              <a:gd name="T7" fmla="*/ 723661 h 21600"/>
              <a:gd name="T8" fmla="*/ 60309605 w 21600"/>
              <a:gd name="T9" fmla="*/ 1892704 h 21600"/>
              <a:gd name="T10" fmla="*/ 70746786 w 21600"/>
              <a:gd name="T11" fmla="*/ 0 h 21600"/>
              <a:gd name="T12" fmla="*/ 80000344 w 21600"/>
              <a:gd name="T13" fmla="*/ 1291499 h 21600"/>
              <a:gd name="T14" fmla="*/ 90060955 w 21600"/>
              <a:gd name="T15" fmla="*/ 0 h 21600"/>
              <a:gd name="T16" fmla="*/ 102811544 w 21600"/>
              <a:gd name="T17" fmla="*/ 3017168 h 21600"/>
              <a:gd name="T18" fmla="*/ 113302489 w 21600"/>
              <a:gd name="T19" fmla="*/ 6925033 h 21600"/>
              <a:gd name="T20" fmla="*/ 112065102 w 21600"/>
              <a:gd name="T21" fmla="*/ 8528245 h 21600"/>
              <a:gd name="T22" fmla="*/ 116207672 w 21600"/>
              <a:gd name="T23" fmla="*/ 11645648 h 21600"/>
              <a:gd name="T24" fmla="*/ 100336696 w 21600"/>
              <a:gd name="T25" fmla="*/ 16711377 h 21600"/>
              <a:gd name="T26" fmla="*/ 84842364 w 21600"/>
              <a:gd name="T27" fmla="*/ 21064590 h 21600"/>
              <a:gd name="T28" fmla="*/ 76610989 w 21600"/>
              <a:gd name="T29" fmla="*/ 20385440 h 21600"/>
              <a:gd name="T30" fmla="*/ 59179820 w 21600"/>
              <a:gd name="T31" fmla="*/ 24048358 h 21600"/>
              <a:gd name="T32" fmla="*/ 44169661 w 21600"/>
              <a:gd name="T33" fmla="*/ 21721450 h 21600"/>
              <a:gd name="T34" fmla="*/ 33571113 w 21600"/>
              <a:gd name="T35" fmla="*/ 22589857 h 21600"/>
              <a:gd name="T36" fmla="*/ 15601934 w 21600"/>
              <a:gd name="T37" fmla="*/ 19639489 h 21600"/>
              <a:gd name="T38" fmla="*/ 2582376 w 21600"/>
              <a:gd name="T39" fmla="*/ 16321719 h 21600"/>
              <a:gd name="T40" fmla="*/ 5756601 w 21600"/>
              <a:gd name="T41" fmla="*/ 14072756 h 21600"/>
              <a:gd name="T42" fmla="*/ 0 w 21600"/>
              <a:gd name="T43" fmla="*/ 11267101 h 21600"/>
              <a:gd name="T44" fmla="*/ 10383343 w 21600"/>
              <a:gd name="T45" fmla="*/ 7971586 h 21600"/>
              <a:gd name="T46" fmla="*/ 10383343 w 21600"/>
              <a:gd name="T47" fmla="*/ 7971586 h 21600"/>
              <a:gd name="T48" fmla="*/ 11244160 w 21600"/>
              <a:gd name="T49" fmla="*/ 8817737 h 21600"/>
              <a:gd name="T50" fmla="*/ 37498479 w 21600"/>
              <a:gd name="T51" fmla="*/ 2894712 h 21600"/>
              <a:gd name="T52" fmla="*/ 41264478 w 21600"/>
              <a:gd name="T53" fmla="*/ 3685174 h 21600"/>
              <a:gd name="T54" fmla="*/ 60309605 w 21600"/>
              <a:gd name="T55" fmla="*/ 1892704 h 21600"/>
              <a:gd name="T56" fmla="*/ 59341260 w 21600"/>
              <a:gd name="T57" fmla="*/ 2672055 h 21600"/>
              <a:gd name="T58" fmla="*/ 80000344 w 21600"/>
              <a:gd name="T59" fmla="*/ 1291499 h 21600"/>
              <a:gd name="T60" fmla="*/ 78224947 w 21600"/>
              <a:gd name="T61" fmla="*/ 2237818 h 21600"/>
              <a:gd name="T62" fmla="*/ 102811544 w 21600"/>
              <a:gd name="T63" fmla="*/ 3017168 h 21600"/>
              <a:gd name="T64" fmla="*/ 103241878 w 21600"/>
              <a:gd name="T65" fmla="*/ 3763119 h 21600"/>
              <a:gd name="T66" fmla="*/ 112065102 w 21600"/>
              <a:gd name="T67" fmla="*/ 8528245 h 21600"/>
              <a:gd name="T68" fmla="*/ 108191500 w 21600"/>
              <a:gd name="T69" fmla="*/ 10009002 h 21600"/>
              <a:gd name="T70" fmla="*/ 100390534 w 21600"/>
              <a:gd name="T71" fmla="*/ 16711377 h 21600"/>
              <a:gd name="T72" fmla="*/ 91459708 w 21600"/>
              <a:gd name="T73" fmla="*/ 12747857 h 21600"/>
              <a:gd name="T74" fmla="*/ 76610989 w 21600"/>
              <a:gd name="T75" fmla="*/ 20385440 h 21600"/>
              <a:gd name="T76" fmla="*/ 77310366 w 21600"/>
              <a:gd name="T77" fmla="*/ 19327742 h 21600"/>
              <a:gd name="T78" fmla="*/ 44223498 w 21600"/>
              <a:gd name="T79" fmla="*/ 21721450 h 21600"/>
              <a:gd name="T80" fmla="*/ 42286661 w 21600"/>
              <a:gd name="T81" fmla="*/ 20752843 h 21600"/>
              <a:gd name="T82" fmla="*/ 15601934 w 21600"/>
              <a:gd name="T83" fmla="*/ 19639489 h 21600"/>
              <a:gd name="T84" fmla="*/ 18614719 w 21600"/>
              <a:gd name="T85" fmla="*/ 19427943 h 21600"/>
              <a:gd name="T86" fmla="*/ 5756601 w 21600"/>
              <a:gd name="T87" fmla="*/ 14072756 h 21600"/>
              <a:gd name="T88" fmla="*/ 12535385 w 21600"/>
              <a:gd name="T89" fmla="*/ 14518071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 Tests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>
            <a:extLst>
              <a:ext uri="{FF2B5EF4-FFF2-40B4-BE49-F238E27FC236}">
                <a16:creationId xmlns:a16="http://schemas.microsoft.com/office/drawing/2014/main" id="{A262A83E-D6D0-4BEA-B4B6-3240ED9EA2E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Governance &amp; Oversight</a:t>
            </a:r>
          </a:p>
        </p:txBody>
      </p:sp>
      <p:sp>
        <p:nvSpPr>
          <p:cNvPr id="30723" name="AutoShape 2">
            <a:extLst>
              <a:ext uri="{FF2B5EF4-FFF2-40B4-BE49-F238E27FC236}">
                <a16:creationId xmlns:a16="http://schemas.microsoft.com/office/drawing/2014/main" id="{732F7261-E83A-47DB-AC0B-F45DBC1F0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1595438"/>
            <a:ext cx="9359900" cy="1355725"/>
          </a:xfrm>
          <a:prstGeom prst="roundRect">
            <a:avLst>
              <a:gd name="adj" fmla="val 65"/>
            </a:avLst>
          </a:prstGeom>
          <a:solidFill>
            <a:srgbClr val="006633">
              <a:alpha val="50195"/>
            </a:srgbClr>
          </a:solidFill>
          <a:ln w="936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Senior management have a responsibility to ensure that</a:t>
            </a:r>
          </a:p>
          <a:p>
            <a:pPr algn="ctr"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effective controls and procedures are in place within their firm.   </a:t>
            </a:r>
          </a:p>
        </p:txBody>
      </p:sp>
      <p:sp>
        <p:nvSpPr>
          <p:cNvPr id="30724" name="Text Box 3">
            <a:extLst>
              <a:ext uri="{FF2B5EF4-FFF2-40B4-BE49-F238E27FC236}">
                <a16:creationId xmlns:a16="http://schemas.microsoft.com/office/drawing/2014/main" id="{010698CA-23DE-47B2-BB3D-49BC0EEE4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0725" name="Text Box 4">
            <a:extLst>
              <a:ext uri="{FF2B5EF4-FFF2-40B4-BE49-F238E27FC236}">
                <a16:creationId xmlns:a16="http://schemas.microsoft.com/office/drawing/2014/main" id="{6FC37968-29C3-4486-BF39-7E24BB7C8C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3303588"/>
            <a:ext cx="87122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i="1">
                <a:solidFill>
                  <a:srgbClr val="CCFF99"/>
                </a:solidFill>
                <a:latin typeface="Cambria" panose="02040503050406030204" pitchFamily="18" charset="0"/>
              </a:rPr>
              <a:t>UK legislation on money laundering and financial crime places a number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i="1">
                <a:solidFill>
                  <a:srgbClr val="CCFF99"/>
                </a:solidFill>
                <a:latin typeface="Cambria" panose="02040503050406030204" pitchFamily="18" charset="0"/>
              </a:rPr>
              <a:t>of obligations on firms and their senior management, including:-</a:t>
            </a:r>
          </a:p>
        </p:txBody>
      </p:sp>
      <p:sp>
        <p:nvSpPr>
          <p:cNvPr id="30726" name="Text Box 5">
            <a:extLst>
              <a:ext uri="{FF2B5EF4-FFF2-40B4-BE49-F238E27FC236}">
                <a16:creationId xmlns:a16="http://schemas.microsoft.com/office/drawing/2014/main" id="{179002DD-86D5-45D5-8BCC-13D165A0B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863" y="4319588"/>
            <a:ext cx="7480300" cy="215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"/>
            </a:pPr>
            <a:r>
              <a:rPr lang="en-GB" altLang="en-US" sz="1800">
                <a:solidFill>
                  <a:srgbClr val="CCFF99"/>
                </a:solidFill>
              </a:rPr>
              <a:t>  To apply Customer Due Diligence measures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"/>
            </a:pPr>
            <a:r>
              <a:rPr lang="en-GB" altLang="en-US" sz="1800">
                <a:solidFill>
                  <a:srgbClr val="FFFFFF"/>
                </a:solidFill>
              </a:rPr>
              <a:t>  To maintain appropriate systems and controls for AML/CTF purposes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"/>
            </a:pPr>
            <a:r>
              <a:rPr lang="en-GB" altLang="en-US" sz="1800">
                <a:solidFill>
                  <a:srgbClr val="CCFF99"/>
                </a:solidFill>
              </a:rPr>
              <a:t>  To monitor customer transactions and activities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"/>
            </a:pPr>
            <a:r>
              <a:rPr lang="en-GB" altLang="en-US" sz="1800">
                <a:solidFill>
                  <a:srgbClr val="FFFFFF"/>
                </a:solidFill>
              </a:rPr>
              <a:t>  To report suspicious activity, both internally and externally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"/>
            </a:pPr>
            <a:r>
              <a:rPr lang="en-GB" altLang="en-US" sz="1800">
                <a:solidFill>
                  <a:srgbClr val="CCFF99"/>
                </a:solidFill>
              </a:rPr>
              <a:t>  To keep appropriate records and train staff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"/>
            </a:pPr>
            <a:r>
              <a:rPr lang="en-GB" altLang="en-US" sz="1800">
                <a:solidFill>
                  <a:srgbClr val="FFFFFF"/>
                </a:solidFill>
              </a:rPr>
              <a:t>  To comply with the UK financial sanctions regime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>
            <a:extLst>
              <a:ext uri="{FF2B5EF4-FFF2-40B4-BE49-F238E27FC236}">
                <a16:creationId xmlns:a16="http://schemas.microsoft.com/office/drawing/2014/main" id="{B4FFEB71-5494-4297-9795-B6BD64DE0A6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 dirty="0">
                <a:solidFill>
                  <a:srgbClr val="FFFFFF"/>
                </a:solidFill>
                <a:latin typeface="Verdana" panose="020B0604030504040204" pitchFamily="34" charset="0"/>
              </a:rPr>
              <a:t>Money Laundering Reporting Officer</a:t>
            </a:r>
            <a:br>
              <a:rPr lang="en-GB" altLang="en-US" sz="3800" dirty="0">
                <a:solidFill>
                  <a:srgbClr val="FFFFFF"/>
                </a:solidFill>
                <a:latin typeface="Verdana" panose="020B0604030504040204" pitchFamily="34" charset="0"/>
              </a:rPr>
            </a:br>
            <a:r>
              <a:rPr lang="en-GB" altLang="en-US" sz="3800" i="1" dirty="0">
                <a:solidFill>
                  <a:srgbClr val="FFFFFF"/>
                </a:solidFill>
                <a:latin typeface="Verdana" panose="020B0604030504040204" pitchFamily="34" charset="0"/>
              </a:rPr>
              <a:t>&amp;</a:t>
            </a:r>
            <a:r>
              <a:rPr lang="en-GB" altLang="en-US" sz="3800" dirty="0">
                <a:solidFill>
                  <a:srgbClr val="FFFFFF"/>
                </a:solidFill>
                <a:latin typeface="Verdana" panose="020B0604030504040204" pitchFamily="34" charset="0"/>
              </a:rPr>
              <a:t> Nominated Officer</a:t>
            </a:r>
          </a:p>
        </p:txBody>
      </p:sp>
      <p:sp>
        <p:nvSpPr>
          <p:cNvPr id="32771" name="Text Box 2">
            <a:extLst>
              <a:ext uri="{FF2B5EF4-FFF2-40B4-BE49-F238E27FC236}">
                <a16:creationId xmlns:a16="http://schemas.microsoft.com/office/drawing/2014/main" id="{2FF60ADA-334E-458B-B57C-434D5C50E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2773" name="AutoShape 4">
            <a:extLst>
              <a:ext uri="{FF2B5EF4-FFF2-40B4-BE49-F238E27FC236}">
                <a16:creationId xmlns:a16="http://schemas.microsoft.com/office/drawing/2014/main" id="{F6EF92BB-458E-4E14-A5B8-F72C85197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4176713"/>
            <a:ext cx="8999537" cy="19446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800" b="1">
                <a:solidFill>
                  <a:srgbClr val="006633"/>
                </a:solidFill>
              </a:rPr>
              <a:t>Use the MLRO Statement Pack and decide which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800" b="1">
                <a:solidFill>
                  <a:srgbClr val="006633"/>
                </a:solidFill>
              </a:rPr>
              <a:t>statements are correct and incorrect when applied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800" b="1">
                <a:solidFill>
                  <a:srgbClr val="006633"/>
                </a:solidFill>
              </a:rPr>
              <a:t>to the Money Laundering Reporting Officer</a:t>
            </a:r>
          </a:p>
        </p:txBody>
      </p:sp>
      <p:sp>
        <p:nvSpPr>
          <p:cNvPr id="32774" name="Text Box 5">
            <a:extLst>
              <a:ext uri="{FF2B5EF4-FFF2-40B4-BE49-F238E27FC236}">
                <a16:creationId xmlns:a16="http://schemas.microsoft.com/office/drawing/2014/main" id="{CF3CAC26-9F4C-4444-81A7-CE89D33B6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8" y="1655763"/>
            <a:ext cx="8921750" cy="22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dirty="0">
                <a:solidFill>
                  <a:srgbClr val="FFFFFF"/>
                </a:solidFill>
              </a:rPr>
              <a:t>These terms are often used interchangeably, but for regulated firms, a </a:t>
            </a:r>
            <a:r>
              <a:rPr lang="en-GB" altLang="en-US" sz="2000" b="1" i="1" dirty="0">
                <a:solidFill>
                  <a:srgbClr val="FFFFFF"/>
                </a:solidFill>
              </a:rPr>
              <a:t>Money Laundering Reporting Officer (MLRO)</a:t>
            </a:r>
            <a:r>
              <a:rPr lang="en-GB" altLang="en-US" sz="2000" dirty="0">
                <a:solidFill>
                  <a:srgbClr val="FFFFFF"/>
                </a:solidFill>
              </a:rPr>
              <a:t> is an FCA mandatory requirement and a controlled function.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endParaRPr lang="en-GB" altLang="en-US" sz="2000" dirty="0">
              <a:solidFill>
                <a:srgbClr val="FFFFFF"/>
              </a:solidFill>
            </a:endParaRP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dirty="0">
                <a:solidFill>
                  <a:srgbClr val="FFFFFF"/>
                </a:solidFill>
              </a:rPr>
              <a:t>A </a:t>
            </a:r>
            <a:r>
              <a:rPr lang="en-GB" altLang="en-US" sz="2000" b="1" i="1" dirty="0">
                <a:solidFill>
                  <a:srgbClr val="FFFFFF"/>
                </a:solidFill>
              </a:rPr>
              <a:t>Nominated Officer </a:t>
            </a:r>
            <a:r>
              <a:rPr lang="en-GB" altLang="en-US" sz="2000" dirty="0">
                <a:solidFill>
                  <a:srgbClr val="FFFFFF"/>
                </a:solidFill>
              </a:rPr>
              <a:t>is the person responsible for AML oversight and for making disclosures to the National Crime Agency (NCA) and is a requirement for all firms with MLR obligations.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>
            <a:extLst>
              <a:ext uri="{FF2B5EF4-FFF2-40B4-BE49-F238E27FC236}">
                <a16:creationId xmlns:a16="http://schemas.microsoft.com/office/drawing/2014/main" id="{01BA58A3-48CD-4CDE-9612-EF8C1D3EDA0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Audits &amp; Monitoring</a:t>
            </a:r>
          </a:p>
        </p:txBody>
      </p:sp>
      <p:sp>
        <p:nvSpPr>
          <p:cNvPr id="34819" name="Text Box 2">
            <a:extLst>
              <a:ext uri="{FF2B5EF4-FFF2-40B4-BE49-F238E27FC236}">
                <a16:creationId xmlns:a16="http://schemas.microsoft.com/office/drawing/2014/main" id="{287983B3-12E9-44DF-8AB1-367B3B930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4820" name="Text Box 3">
            <a:extLst>
              <a:ext uri="{FF2B5EF4-FFF2-40B4-BE49-F238E27FC236}">
                <a16:creationId xmlns:a16="http://schemas.microsoft.com/office/drawing/2014/main" id="{0059F970-F2D1-48F4-8DA1-577560297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2952750"/>
            <a:ext cx="87122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300">
                <a:solidFill>
                  <a:srgbClr val="FFFFFF"/>
                </a:solidFill>
                <a:latin typeface="Cambria" panose="02040503050406030204" pitchFamily="18" charset="0"/>
              </a:rPr>
              <a:t>Auditing and monitoring the controls and procedures used to prevent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300">
                <a:solidFill>
                  <a:srgbClr val="FFFFFF"/>
                </a:solidFill>
                <a:latin typeface="Cambria" panose="02040503050406030204" pitchFamily="18" charset="0"/>
              </a:rPr>
              <a:t>money laundering is a regulatory requirement.  </a:t>
            </a:r>
          </a:p>
        </p:txBody>
      </p:sp>
      <p:sp>
        <p:nvSpPr>
          <p:cNvPr id="34821" name="AutoShape 4">
            <a:extLst>
              <a:ext uri="{FF2B5EF4-FFF2-40B4-BE49-F238E27FC236}">
                <a16:creationId xmlns:a16="http://schemas.microsoft.com/office/drawing/2014/main" id="{2C84D452-E947-4A96-A72A-FFDDF3187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1655763"/>
            <a:ext cx="9359900" cy="863600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800" b="1">
                <a:solidFill>
                  <a:srgbClr val="CCFF99"/>
                </a:solidFill>
              </a:rPr>
              <a:t>Money laundering prevention is not a once only task!</a:t>
            </a:r>
          </a:p>
        </p:txBody>
      </p:sp>
      <p:sp>
        <p:nvSpPr>
          <p:cNvPr id="34822" name="Text Box 5">
            <a:extLst>
              <a:ext uri="{FF2B5EF4-FFF2-40B4-BE49-F238E27FC236}">
                <a16:creationId xmlns:a16="http://schemas.microsoft.com/office/drawing/2014/main" id="{E0DC94C1-69B6-4FE2-ABFA-724F62D6C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4184650"/>
            <a:ext cx="4192588" cy="207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 dirty="0">
                <a:solidFill>
                  <a:srgbClr val="FFFFFF"/>
                </a:solidFill>
              </a:rPr>
              <a:t>  Checklists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 dirty="0">
                <a:solidFill>
                  <a:srgbClr val="CCFF99"/>
                </a:solidFill>
              </a:rPr>
              <a:t>  Procedure Audits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 dirty="0">
                <a:solidFill>
                  <a:srgbClr val="FFFFFF"/>
                </a:solidFill>
              </a:rPr>
              <a:t>  Due Diligence Re-checks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 dirty="0">
                <a:solidFill>
                  <a:srgbClr val="CCFF99"/>
                </a:solidFill>
              </a:rPr>
              <a:t>  Management Information (MI)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 dirty="0">
                <a:solidFill>
                  <a:srgbClr val="FFFFFF"/>
                </a:solidFill>
              </a:rPr>
              <a:t>  Transaction Monitoring</a:t>
            </a:r>
          </a:p>
        </p:txBody>
      </p:sp>
      <p:sp>
        <p:nvSpPr>
          <p:cNvPr id="34823" name="Text Box 6">
            <a:extLst>
              <a:ext uri="{FF2B5EF4-FFF2-40B4-BE49-F238E27FC236}">
                <a16:creationId xmlns:a16="http://schemas.microsoft.com/office/drawing/2014/main" id="{5CAC45DF-595B-4A4A-B90A-C20DDF650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775" y="4222750"/>
            <a:ext cx="4575175" cy="207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 marL="212725" indent="-212725"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>
                <a:solidFill>
                  <a:srgbClr val="CCFF99"/>
                </a:solidFill>
              </a:rPr>
              <a:t>  Gap Analysis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>
                <a:solidFill>
                  <a:srgbClr val="FFFFFF"/>
                </a:solidFill>
              </a:rPr>
              <a:t>  Spot Checks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>
                <a:solidFill>
                  <a:srgbClr val="CCFF99"/>
                </a:solidFill>
              </a:rPr>
              <a:t>  Staff Assessments &amp; Tests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>
                <a:solidFill>
                  <a:srgbClr val="FFFFFF"/>
                </a:solidFill>
              </a:rPr>
              <a:t>  Ongoing Risk Assessments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>
                <a:solidFill>
                  <a:srgbClr val="CCFF99"/>
                </a:solidFill>
              </a:rPr>
              <a:t>  Updating Procedures &amp; Manuals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AutoShape 1">
            <a:extLst>
              <a:ext uri="{FF2B5EF4-FFF2-40B4-BE49-F238E27FC236}">
                <a16:creationId xmlns:a16="http://schemas.microsoft.com/office/drawing/2014/main" id="{D51D516D-B48A-4349-8F14-E1761E9AE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4535488"/>
            <a:ext cx="9504362" cy="2090737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57A953E9-8C6A-42EF-8DF2-D51402068BA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Record Keeping</a:t>
            </a:r>
          </a:p>
        </p:txBody>
      </p:sp>
      <p:sp>
        <p:nvSpPr>
          <p:cNvPr id="36868" name="Text Box 3">
            <a:extLst>
              <a:ext uri="{FF2B5EF4-FFF2-40B4-BE49-F238E27FC236}">
                <a16:creationId xmlns:a16="http://schemas.microsoft.com/office/drawing/2014/main" id="{53E48860-1FFC-4BC2-A28A-F1CF3497B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8F81BCFC-67B3-4DFF-A6BC-8576DB2AE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2582863"/>
            <a:ext cx="87122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860425" indent="-212725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lnSpc>
                <a:spcPct val="93000"/>
              </a:lnSpc>
              <a:buSzPct val="100000"/>
              <a:defRPr/>
            </a:pPr>
            <a:r>
              <a:rPr lang="en-GB" altLang="en-US" sz="2600" i="1">
                <a:solidFill>
                  <a:srgbClr val="CCFF99"/>
                </a:solidFill>
                <a:latin typeface="Cambria" panose="02040503050406030204" pitchFamily="18" charset="0"/>
              </a:rPr>
              <a:t>Firms </a:t>
            </a:r>
            <a:r>
              <a:rPr lang="en-GB" altLang="en-US" sz="2600" b="1" i="1" u="sng">
                <a:solidFill>
                  <a:srgbClr val="FFFFFF"/>
                </a:solidFill>
                <a:latin typeface="Cambria" panose="02040503050406030204" pitchFamily="18" charset="0"/>
              </a:rPr>
              <a:t>must</a:t>
            </a:r>
            <a:r>
              <a:rPr lang="en-GB" altLang="en-US" sz="2600" i="1">
                <a:solidFill>
                  <a:srgbClr val="CCFF99"/>
                </a:solidFill>
                <a:latin typeface="Cambria" panose="02040503050406030204" pitchFamily="18" charset="0"/>
              </a:rPr>
              <a:t> retain:-</a:t>
            </a:r>
          </a:p>
          <a:p>
            <a:pPr marL="212725" indent="-212725" algn="ctr" eaLnBrk="1">
              <a:lnSpc>
                <a:spcPct val="93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  <a:defRPr/>
            </a:pPr>
            <a:r>
              <a:rPr lang="en-GB" altLang="en-US" sz="2100">
                <a:solidFill>
                  <a:srgbClr val="FFFFFF"/>
                </a:solidFill>
                <a:latin typeface="Cambria" panose="02040503050406030204" pitchFamily="18" charset="0"/>
              </a:rPr>
              <a:t>Copies of evidence obtained of a customer’s identity</a:t>
            </a:r>
          </a:p>
          <a:p>
            <a:pPr lvl="3" algn="ctr" eaLnBrk="1">
              <a:lnSpc>
                <a:spcPct val="93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  <a:defRPr/>
            </a:pPr>
            <a:r>
              <a:rPr lang="en-GB" altLang="en-US" sz="2100" i="1">
                <a:solidFill>
                  <a:srgbClr val="FFFFFF"/>
                </a:solidFill>
                <a:latin typeface="Cambria" panose="02040503050406030204" pitchFamily="18" charset="0"/>
              </a:rPr>
              <a:t>for 5 years after the end of the customer relationship</a:t>
            </a:r>
          </a:p>
          <a:p>
            <a:pPr marL="212725" indent="-212725" algn="ctr" eaLnBrk="1">
              <a:lnSpc>
                <a:spcPct val="93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  <a:defRPr/>
            </a:pPr>
            <a:r>
              <a:rPr lang="en-GB" altLang="en-US" sz="2100">
                <a:solidFill>
                  <a:srgbClr val="FFFFFF"/>
                </a:solidFill>
                <a:latin typeface="Cambria" panose="02040503050406030204" pitchFamily="18" charset="0"/>
              </a:rPr>
              <a:t>Details of customer transactions for 5 years from the date of the transaction</a:t>
            </a:r>
          </a:p>
        </p:txBody>
      </p:sp>
      <p:sp>
        <p:nvSpPr>
          <p:cNvPr id="36870" name="Text Box 5">
            <a:extLst>
              <a:ext uri="{FF2B5EF4-FFF2-40B4-BE49-F238E27FC236}">
                <a16:creationId xmlns:a16="http://schemas.microsoft.com/office/drawing/2014/main" id="{40C2386F-F636-4C2D-81C0-4B2452DD0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5262563"/>
            <a:ext cx="4186237" cy="1217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 marL="212725" indent="-212725"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altLang="en-US" sz="1800">
                <a:solidFill>
                  <a:srgbClr val="FFFFFF"/>
                </a:solidFill>
              </a:rPr>
              <a:t>Customer Information</a:t>
            </a:r>
          </a:p>
          <a:p>
            <a:pPr eaLnBrk="1"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altLang="en-US" sz="1800">
                <a:solidFill>
                  <a:srgbClr val="FFFFFF"/>
                </a:solidFill>
              </a:rPr>
              <a:t>Transactions</a:t>
            </a:r>
          </a:p>
          <a:p>
            <a:pPr eaLnBrk="1"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altLang="en-US" sz="1800">
                <a:solidFill>
                  <a:srgbClr val="FFFFFF"/>
                </a:solidFill>
              </a:rPr>
              <a:t>Internal &amp; External Suspicion Reports</a:t>
            </a:r>
          </a:p>
          <a:p>
            <a:pPr eaLnBrk="1"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altLang="en-US" sz="1800">
                <a:solidFill>
                  <a:srgbClr val="FFFFFF"/>
                </a:solidFill>
              </a:rPr>
              <a:t>MLRO Annual Reports</a:t>
            </a:r>
          </a:p>
        </p:txBody>
      </p:sp>
      <p:sp>
        <p:nvSpPr>
          <p:cNvPr id="36871" name="Text Box 6">
            <a:extLst>
              <a:ext uri="{FF2B5EF4-FFF2-40B4-BE49-F238E27FC236}">
                <a16:creationId xmlns:a16="http://schemas.microsoft.com/office/drawing/2014/main" id="{7880B180-7B8F-451A-8EEF-17B7459BB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63" y="5327650"/>
            <a:ext cx="87122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endParaRPr lang="en-GB" altLang="en-US" sz="2600" i="1">
              <a:latin typeface="Cambria" panose="02040503050406030204" pitchFamily="18" charset="0"/>
            </a:endParaRPr>
          </a:p>
          <a:p>
            <a:pPr algn="ctr" eaLnBrk="1">
              <a:spcBef>
                <a:spcPts val="575"/>
              </a:spcBef>
              <a:spcAft>
                <a:spcPct val="0"/>
              </a:spcAft>
              <a:buClrTx/>
              <a:buFontTx/>
              <a:buNone/>
            </a:pPr>
            <a:endParaRPr lang="en-GB" altLang="en-US" sz="2600" i="1">
              <a:latin typeface="Cambria" panose="02040503050406030204" pitchFamily="18" charset="0"/>
            </a:endParaRPr>
          </a:p>
        </p:txBody>
      </p:sp>
      <p:sp>
        <p:nvSpPr>
          <p:cNvPr id="36872" name="Text Box 7">
            <a:extLst>
              <a:ext uri="{FF2B5EF4-FFF2-40B4-BE49-F238E27FC236}">
                <a16:creationId xmlns:a16="http://schemas.microsoft.com/office/drawing/2014/main" id="{D15A5F25-461D-4B29-8088-1892C68A6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5256213"/>
            <a:ext cx="4579937" cy="1217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 marL="212725" indent="-212725"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altLang="en-US" sz="1800">
                <a:solidFill>
                  <a:srgbClr val="FFFFFF"/>
                </a:solidFill>
              </a:rPr>
              <a:t>Information Not Acted Upon</a:t>
            </a:r>
          </a:p>
          <a:p>
            <a:pPr eaLnBrk="1"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altLang="en-US" sz="1800">
                <a:solidFill>
                  <a:srgbClr val="FFFFFF"/>
                </a:solidFill>
              </a:rPr>
              <a:t>Training and Compliance Monitoring</a:t>
            </a:r>
          </a:p>
          <a:p>
            <a:pPr eaLnBrk="1"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altLang="en-US" sz="1800">
                <a:solidFill>
                  <a:srgbClr val="FFFFFF"/>
                </a:solidFill>
              </a:rPr>
              <a:t>Effectiveness of Training Information</a:t>
            </a:r>
          </a:p>
          <a:p>
            <a:pPr eaLnBrk="1"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altLang="en-US" sz="1800">
                <a:solidFill>
                  <a:srgbClr val="FFFFFF"/>
                </a:solidFill>
              </a:rPr>
              <a:t>Management Information Regarding AML</a:t>
            </a:r>
          </a:p>
        </p:txBody>
      </p:sp>
      <p:sp>
        <p:nvSpPr>
          <p:cNvPr id="36873" name="Text Box 8">
            <a:extLst>
              <a:ext uri="{FF2B5EF4-FFF2-40B4-BE49-F238E27FC236}">
                <a16:creationId xmlns:a16="http://schemas.microsoft.com/office/drawing/2014/main" id="{C8592149-8BFA-4AD0-911E-9C2E8666B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8650" y="4679950"/>
            <a:ext cx="37719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600" i="1">
                <a:solidFill>
                  <a:srgbClr val="CCFF99"/>
                </a:solidFill>
                <a:latin typeface="Cambria" panose="02040503050406030204" pitchFamily="18" charset="0"/>
              </a:rPr>
              <a:t>Firms </a:t>
            </a:r>
            <a:r>
              <a:rPr lang="en-GB" altLang="en-US" sz="2600" b="1" i="1" u="sng">
                <a:solidFill>
                  <a:srgbClr val="FFFFFF"/>
                </a:solidFill>
                <a:latin typeface="Cambria" panose="02040503050406030204" pitchFamily="18" charset="0"/>
              </a:rPr>
              <a:t>should</a:t>
            </a:r>
            <a:r>
              <a:rPr lang="en-GB" altLang="en-US" sz="2600" i="1">
                <a:solidFill>
                  <a:srgbClr val="CCFF99"/>
                </a:solidFill>
                <a:latin typeface="Cambria" panose="02040503050406030204" pitchFamily="18" charset="0"/>
              </a:rPr>
              <a:t> also retain:-</a:t>
            </a:r>
          </a:p>
        </p:txBody>
      </p:sp>
      <p:sp>
        <p:nvSpPr>
          <p:cNvPr id="36874" name="Rectangle 9">
            <a:extLst>
              <a:ext uri="{FF2B5EF4-FFF2-40B4-BE49-F238E27FC236}">
                <a16:creationId xmlns:a16="http://schemas.microsoft.com/office/drawing/2014/main" id="{432145FD-0138-4A04-A986-3D4120F57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1522413"/>
            <a:ext cx="7127875" cy="852487"/>
          </a:xfrm>
          <a:prstGeom prst="rect">
            <a:avLst/>
          </a:prstGeom>
          <a:solidFill>
            <a:srgbClr val="CCFF99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600" b="1">
                <a:solidFill>
                  <a:srgbClr val="00331A"/>
                </a:solidFill>
              </a:rPr>
              <a:t>Why is record keeping important?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>
            <a:extLst>
              <a:ext uri="{FF2B5EF4-FFF2-40B4-BE49-F238E27FC236}">
                <a16:creationId xmlns:a16="http://schemas.microsoft.com/office/drawing/2014/main" id="{D980F1F8-205A-4CD1-896E-DEFD39EA397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 dirty="0">
                <a:solidFill>
                  <a:srgbClr val="FFFFFF"/>
                </a:solidFill>
                <a:latin typeface="Verdana" panose="020B0604030504040204" pitchFamily="34" charset="0"/>
              </a:rPr>
              <a:t>Tipping Off</a:t>
            </a:r>
          </a:p>
        </p:txBody>
      </p:sp>
      <p:sp>
        <p:nvSpPr>
          <p:cNvPr id="28676" name="Text Box 3">
            <a:extLst>
              <a:ext uri="{FF2B5EF4-FFF2-40B4-BE49-F238E27FC236}">
                <a16:creationId xmlns:a16="http://schemas.microsoft.com/office/drawing/2014/main" id="{009DB61C-9ECB-4479-80E6-5A6D7154F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8677" name="Text Box 4">
            <a:extLst>
              <a:ext uri="{FF2B5EF4-FFF2-40B4-BE49-F238E27FC236}">
                <a16:creationId xmlns:a16="http://schemas.microsoft.com/office/drawing/2014/main" id="{CE7CFD3B-3544-47FD-941D-D3E4F422E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419" y="4800600"/>
            <a:ext cx="87122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500" dirty="0">
                <a:solidFill>
                  <a:srgbClr val="FFFF00"/>
                </a:solidFill>
                <a:latin typeface="Cambria" panose="02040503050406030204" pitchFamily="18" charset="0"/>
              </a:rPr>
              <a:t>‘Tipping Off’ is a criminal offence that carries severe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500" dirty="0">
                <a:solidFill>
                  <a:srgbClr val="FFFF00"/>
                </a:solidFill>
                <a:latin typeface="Cambria" panose="02040503050406030204" pitchFamily="18" charset="0"/>
              </a:rPr>
              <a:t>penalties and implications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endParaRPr lang="en-GB" altLang="en-US" sz="1400" dirty="0">
              <a:solidFill>
                <a:srgbClr val="FFFFFF"/>
              </a:solidFill>
              <a:latin typeface="Cambria" panose="02040503050406030204" pitchFamily="18" charset="0"/>
            </a:endParaRPr>
          </a:p>
          <a:p>
            <a:pPr algn="ctr" eaLnBrk="1">
              <a:spcAft>
                <a:spcPts val="1200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dirty="0">
                <a:solidFill>
                  <a:srgbClr val="FFFFFF"/>
                </a:solidFill>
                <a:latin typeface="Cambria" panose="02040503050406030204" pitchFamily="18" charset="0"/>
              </a:rPr>
              <a:t>  What is ‘tipping off’?</a:t>
            </a:r>
          </a:p>
          <a:p>
            <a:pPr algn="ctr" eaLnBrk="1">
              <a:spcAft>
                <a:spcPts val="1200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dirty="0">
                <a:solidFill>
                  <a:srgbClr val="FFFFFF"/>
                </a:solidFill>
                <a:latin typeface="Cambria" panose="02040503050406030204" pitchFamily="18" charset="0"/>
              </a:rPr>
              <a:t>  How can a firm reduce the risk?</a:t>
            </a:r>
          </a:p>
          <a:p>
            <a:pPr algn="ctr" eaLnBrk="1">
              <a:spcAft>
                <a:spcPts val="1200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dirty="0">
                <a:solidFill>
                  <a:srgbClr val="FFFFFF"/>
                </a:solidFill>
                <a:latin typeface="Cambria" panose="02040503050406030204" pitchFamily="18" charset="0"/>
              </a:rPr>
              <a:t>  What are the penalties of ‘tipping off’?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B120D790-799C-41A5-82E2-68FB253ED4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7" y="1440882"/>
            <a:ext cx="7783784" cy="298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7642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>
            <a:extLst>
              <a:ext uri="{FF2B5EF4-FFF2-40B4-BE49-F238E27FC236}">
                <a16:creationId xmlns:a16="http://schemas.microsoft.com/office/drawing/2014/main" id="{4D7949F4-D5C8-4772-A511-D5409B01502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Reporting &amp; SAR's</a:t>
            </a:r>
          </a:p>
        </p:txBody>
      </p:sp>
      <p:sp>
        <p:nvSpPr>
          <p:cNvPr id="21506" name="AutoShape 2">
            <a:extLst>
              <a:ext uri="{FF2B5EF4-FFF2-40B4-BE49-F238E27FC236}">
                <a16:creationId xmlns:a16="http://schemas.microsoft.com/office/drawing/2014/main" id="{943B89F7-6D47-4DC0-93EF-C1D9EABD0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1595438"/>
            <a:ext cx="9215438" cy="2868612"/>
          </a:xfrm>
          <a:prstGeom prst="roundRect">
            <a:avLst>
              <a:gd name="adj" fmla="val 65"/>
            </a:avLst>
          </a:prstGeom>
          <a:solidFill>
            <a:srgbClr val="006633">
              <a:alpha val="50000"/>
            </a:srgbClr>
          </a:solidFill>
          <a:ln w="936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marL="71438">
              <a:tabLst>
                <a:tab pos="71438" algn="l"/>
                <a:tab pos="519113" algn="l"/>
                <a:tab pos="968375" algn="l"/>
                <a:tab pos="1417638" algn="l"/>
                <a:tab pos="1866900" algn="l"/>
                <a:tab pos="2316163" algn="l"/>
                <a:tab pos="2765425" algn="l"/>
                <a:tab pos="3214688" algn="l"/>
                <a:tab pos="3663950" algn="l"/>
                <a:tab pos="4113213" algn="l"/>
                <a:tab pos="4562475" algn="l"/>
                <a:tab pos="5011738" algn="l"/>
                <a:tab pos="5461000" algn="l"/>
                <a:tab pos="5910263" algn="l"/>
                <a:tab pos="6359525" algn="l"/>
                <a:tab pos="6808788" algn="l"/>
                <a:tab pos="7258050" algn="l"/>
                <a:tab pos="7707313" algn="l"/>
                <a:tab pos="8156575" algn="l"/>
                <a:tab pos="8605838" algn="l"/>
                <a:tab pos="905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71438" algn="l"/>
                <a:tab pos="519113" algn="l"/>
                <a:tab pos="968375" algn="l"/>
                <a:tab pos="1417638" algn="l"/>
                <a:tab pos="1866900" algn="l"/>
                <a:tab pos="2316163" algn="l"/>
                <a:tab pos="2765425" algn="l"/>
                <a:tab pos="3214688" algn="l"/>
                <a:tab pos="3663950" algn="l"/>
                <a:tab pos="4113213" algn="l"/>
                <a:tab pos="4562475" algn="l"/>
                <a:tab pos="5011738" algn="l"/>
                <a:tab pos="5461000" algn="l"/>
                <a:tab pos="5910263" algn="l"/>
                <a:tab pos="6359525" algn="l"/>
                <a:tab pos="6808788" algn="l"/>
                <a:tab pos="7258050" algn="l"/>
                <a:tab pos="7707313" algn="l"/>
                <a:tab pos="8156575" algn="l"/>
                <a:tab pos="8605838" algn="l"/>
                <a:tab pos="905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71438" algn="l"/>
                <a:tab pos="519113" algn="l"/>
                <a:tab pos="968375" algn="l"/>
                <a:tab pos="1417638" algn="l"/>
                <a:tab pos="1866900" algn="l"/>
                <a:tab pos="2316163" algn="l"/>
                <a:tab pos="2765425" algn="l"/>
                <a:tab pos="3214688" algn="l"/>
                <a:tab pos="3663950" algn="l"/>
                <a:tab pos="4113213" algn="l"/>
                <a:tab pos="4562475" algn="l"/>
                <a:tab pos="5011738" algn="l"/>
                <a:tab pos="5461000" algn="l"/>
                <a:tab pos="5910263" algn="l"/>
                <a:tab pos="6359525" algn="l"/>
                <a:tab pos="6808788" algn="l"/>
                <a:tab pos="7258050" algn="l"/>
                <a:tab pos="7707313" algn="l"/>
                <a:tab pos="8156575" algn="l"/>
                <a:tab pos="8605838" algn="l"/>
                <a:tab pos="905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71438" algn="l"/>
                <a:tab pos="519113" algn="l"/>
                <a:tab pos="968375" algn="l"/>
                <a:tab pos="1417638" algn="l"/>
                <a:tab pos="1866900" algn="l"/>
                <a:tab pos="2316163" algn="l"/>
                <a:tab pos="2765425" algn="l"/>
                <a:tab pos="3214688" algn="l"/>
                <a:tab pos="3663950" algn="l"/>
                <a:tab pos="4113213" algn="l"/>
                <a:tab pos="4562475" algn="l"/>
                <a:tab pos="5011738" algn="l"/>
                <a:tab pos="5461000" algn="l"/>
                <a:tab pos="5910263" algn="l"/>
                <a:tab pos="6359525" algn="l"/>
                <a:tab pos="6808788" algn="l"/>
                <a:tab pos="7258050" algn="l"/>
                <a:tab pos="7707313" algn="l"/>
                <a:tab pos="8156575" algn="l"/>
                <a:tab pos="8605838" algn="l"/>
                <a:tab pos="905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71438" algn="l"/>
                <a:tab pos="519113" algn="l"/>
                <a:tab pos="968375" algn="l"/>
                <a:tab pos="1417638" algn="l"/>
                <a:tab pos="1866900" algn="l"/>
                <a:tab pos="2316163" algn="l"/>
                <a:tab pos="2765425" algn="l"/>
                <a:tab pos="3214688" algn="l"/>
                <a:tab pos="3663950" algn="l"/>
                <a:tab pos="4113213" algn="l"/>
                <a:tab pos="4562475" algn="l"/>
                <a:tab pos="5011738" algn="l"/>
                <a:tab pos="5461000" algn="l"/>
                <a:tab pos="5910263" algn="l"/>
                <a:tab pos="6359525" algn="l"/>
                <a:tab pos="6808788" algn="l"/>
                <a:tab pos="7258050" algn="l"/>
                <a:tab pos="7707313" algn="l"/>
                <a:tab pos="8156575" algn="l"/>
                <a:tab pos="8605838" algn="l"/>
                <a:tab pos="905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1438" algn="l"/>
                <a:tab pos="519113" algn="l"/>
                <a:tab pos="968375" algn="l"/>
                <a:tab pos="1417638" algn="l"/>
                <a:tab pos="1866900" algn="l"/>
                <a:tab pos="2316163" algn="l"/>
                <a:tab pos="2765425" algn="l"/>
                <a:tab pos="3214688" algn="l"/>
                <a:tab pos="3663950" algn="l"/>
                <a:tab pos="4113213" algn="l"/>
                <a:tab pos="4562475" algn="l"/>
                <a:tab pos="5011738" algn="l"/>
                <a:tab pos="5461000" algn="l"/>
                <a:tab pos="5910263" algn="l"/>
                <a:tab pos="6359525" algn="l"/>
                <a:tab pos="6808788" algn="l"/>
                <a:tab pos="7258050" algn="l"/>
                <a:tab pos="7707313" algn="l"/>
                <a:tab pos="8156575" algn="l"/>
                <a:tab pos="8605838" algn="l"/>
                <a:tab pos="905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1438" algn="l"/>
                <a:tab pos="519113" algn="l"/>
                <a:tab pos="968375" algn="l"/>
                <a:tab pos="1417638" algn="l"/>
                <a:tab pos="1866900" algn="l"/>
                <a:tab pos="2316163" algn="l"/>
                <a:tab pos="2765425" algn="l"/>
                <a:tab pos="3214688" algn="l"/>
                <a:tab pos="3663950" algn="l"/>
                <a:tab pos="4113213" algn="l"/>
                <a:tab pos="4562475" algn="l"/>
                <a:tab pos="5011738" algn="l"/>
                <a:tab pos="5461000" algn="l"/>
                <a:tab pos="5910263" algn="l"/>
                <a:tab pos="6359525" algn="l"/>
                <a:tab pos="6808788" algn="l"/>
                <a:tab pos="7258050" algn="l"/>
                <a:tab pos="7707313" algn="l"/>
                <a:tab pos="8156575" algn="l"/>
                <a:tab pos="8605838" algn="l"/>
                <a:tab pos="905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1438" algn="l"/>
                <a:tab pos="519113" algn="l"/>
                <a:tab pos="968375" algn="l"/>
                <a:tab pos="1417638" algn="l"/>
                <a:tab pos="1866900" algn="l"/>
                <a:tab pos="2316163" algn="l"/>
                <a:tab pos="2765425" algn="l"/>
                <a:tab pos="3214688" algn="l"/>
                <a:tab pos="3663950" algn="l"/>
                <a:tab pos="4113213" algn="l"/>
                <a:tab pos="4562475" algn="l"/>
                <a:tab pos="5011738" algn="l"/>
                <a:tab pos="5461000" algn="l"/>
                <a:tab pos="5910263" algn="l"/>
                <a:tab pos="6359525" algn="l"/>
                <a:tab pos="6808788" algn="l"/>
                <a:tab pos="7258050" algn="l"/>
                <a:tab pos="7707313" algn="l"/>
                <a:tab pos="8156575" algn="l"/>
                <a:tab pos="8605838" algn="l"/>
                <a:tab pos="905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1438" algn="l"/>
                <a:tab pos="519113" algn="l"/>
                <a:tab pos="968375" algn="l"/>
                <a:tab pos="1417638" algn="l"/>
                <a:tab pos="1866900" algn="l"/>
                <a:tab pos="2316163" algn="l"/>
                <a:tab pos="2765425" algn="l"/>
                <a:tab pos="3214688" algn="l"/>
                <a:tab pos="3663950" algn="l"/>
                <a:tab pos="4113213" algn="l"/>
                <a:tab pos="4562475" algn="l"/>
                <a:tab pos="5011738" algn="l"/>
                <a:tab pos="5461000" algn="l"/>
                <a:tab pos="5910263" algn="l"/>
                <a:tab pos="6359525" algn="l"/>
                <a:tab pos="6808788" algn="l"/>
                <a:tab pos="7258050" algn="l"/>
                <a:tab pos="7707313" algn="l"/>
                <a:tab pos="8156575" algn="l"/>
                <a:tab pos="8605838" algn="l"/>
                <a:tab pos="905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SzPct val="100000"/>
              <a:defRPr/>
            </a:pPr>
            <a:r>
              <a:rPr lang="en-GB" altLang="en-US" sz="2200">
                <a:solidFill>
                  <a:srgbClr val="FFFFFF"/>
                </a:solidFill>
              </a:rPr>
              <a:t>If you operate in a regulated sector, you are required to make a report  where you:-</a:t>
            </a:r>
          </a:p>
          <a:p>
            <a:pPr marL="533400" indent="-212725"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  <a:defRPr/>
            </a:pPr>
            <a:r>
              <a:rPr lang="en-GB" altLang="en-US" sz="2200">
                <a:solidFill>
                  <a:srgbClr val="CCFF99"/>
                </a:solidFill>
              </a:rPr>
              <a:t>know;</a:t>
            </a:r>
          </a:p>
          <a:p>
            <a:pPr marL="533400" indent="-212725"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  <a:defRPr/>
            </a:pPr>
            <a:r>
              <a:rPr lang="en-GB" altLang="en-US" sz="2200">
                <a:solidFill>
                  <a:srgbClr val="CCFF99"/>
                </a:solidFill>
              </a:rPr>
              <a:t>suspect; or</a:t>
            </a:r>
          </a:p>
          <a:p>
            <a:pPr marL="533400" indent="-212725"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  <a:defRPr/>
            </a:pPr>
            <a:r>
              <a:rPr lang="en-GB" altLang="en-US" sz="2200">
                <a:solidFill>
                  <a:srgbClr val="CCFF99"/>
                </a:solidFill>
              </a:rPr>
              <a:t>have reasonable grounds for knowing or suspecting;</a:t>
            </a:r>
          </a:p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SzPct val="100000"/>
              <a:defRPr/>
            </a:pPr>
            <a:r>
              <a:rPr lang="en-GB" altLang="en-US" sz="2200">
                <a:solidFill>
                  <a:srgbClr val="FFFFFF"/>
                </a:solidFill>
              </a:rPr>
              <a:t>that a person and/or firm is engaged in, or attempting, money laundering or terrorist financing.  </a:t>
            </a: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 </a:t>
            </a:r>
          </a:p>
        </p:txBody>
      </p:sp>
      <p:sp>
        <p:nvSpPr>
          <p:cNvPr id="38916" name="Text Box 3">
            <a:extLst>
              <a:ext uri="{FF2B5EF4-FFF2-40B4-BE49-F238E27FC236}">
                <a16:creationId xmlns:a16="http://schemas.microsoft.com/office/drawing/2014/main" id="{5EC9C14C-D5DB-4F36-981E-36D68D1EB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8917" name="Text Box 4">
            <a:extLst>
              <a:ext uri="{FF2B5EF4-FFF2-40B4-BE49-F238E27FC236}">
                <a16:creationId xmlns:a16="http://schemas.microsoft.com/office/drawing/2014/main" id="{72AA64C9-E6AA-412F-89DF-CF65B6D80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4800600"/>
            <a:ext cx="87122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300">
                <a:solidFill>
                  <a:srgbClr val="FFFFFF"/>
                </a:solidFill>
              </a:rPr>
              <a:t>A Suspicious Activity Report (SAR) is made to NCA when there is any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300">
                <a:solidFill>
                  <a:srgbClr val="FFFFFF"/>
                </a:solidFill>
              </a:rPr>
              <a:t>suspicion or knowledge of money laundering or a suspicious activity.</a:t>
            </a:r>
          </a:p>
        </p:txBody>
      </p:sp>
      <p:sp>
        <p:nvSpPr>
          <p:cNvPr id="38918" name="AutoShape 5">
            <a:extLst>
              <a:ext uri="{FF2B5EF4-FFF2-40B4-BE49-F238E27FC236}">
                <a16:creationId xmlns:a16="http://schemas.microsoft.com/office/drawing/2014/main" id="{CBD58A79-7EE3-477E-BB1B-24FEDE811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5759450"/>
            <a:ext cx="7127875" cy="9366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600">
                <a:solidFill>
                  <a:srgbClr val="00331A"/>
                </a:solidFill>
              </a:rPr>
              <a:t>Who makes the Suspicious Activity Report?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>
            <a:extLst>
              <a:ext uri="{FF2B5EF4-FFF2-40B4-BE49-F238E27FC236}">
                <a16:creationId xmlns:a16="http://schemas.microsoft.com/office/drawing/2014/main" id="{D980F1F8-205A-4CD1-896E-DEFD39EA397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 dirty="0">
                <a:solidFill>
                  <a:srgbClr val="FFFFFF"/>
                </a:solidFill>
                <a:latin typeface="Verdana" panose="020B0604030504040204" pitchFamily="34" charset="0"/>
              </a:rPr>
              <a:t>Supervisory Authority</a:t>
            </a:r>
          </a:p>
        </p:txBody>
      </p:sp>
      <p:sp>
        <p:nvSpPr>
          <p:cNvPr id="28677" name="Text Box 4">
            <a:extLst>
              <a:ext uri="{FF2B5EF4-FFF2-40B4-BE49-F238E27FC236}">
                <a16:creationId xmlns:a16="http://schemas.microsoft.com/office/drawing/2014/main" id="{CE7CFD3B-3544-47FD-941D-D3E4F422E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3073" y="1865501"/>
            <a:ext cx="4896544" cy="1235075"/>
          </a:xfrm>
          <a:prstGeom prst="rect">
            <a:avLst/>
          </a:prstGeom>
          <a:solidFill>
            <a:srgbClr val="336600"/>
          </a:solidFill>
          <a:ln>
            <a:noFill/>
          </a:ln>
          <a:effectLst/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500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Those with MLR17 obligations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500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must be monitored by a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500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Supervisory Authority</a:t>
            </a:r>
            <a:endParaRPr lang="en-GB" altLang="en-US" sz="1400" dirty="0">
              <a:solidFill>
                <a:schemeClr val="bg1">
                  <a:lumMod val="95000"/>
                </a:schemeClr>
              </a:solidFill>
              <a:latin typeface="Cambria" panose="020405030504060302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F1C45F-8461-4D11-9118-5E7CFE831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204" y="1865501"/>
            <a:ext cx="3953427" cy="2876951"/>
          </a:xfrm>
          <a:prstGeom prst="rect">
            <a:avLst/>
          </a:prstGeom>
        </p:spPr>
      </p:pic>
      <p:sp>
        <p:nvSpPr>
          <p:cNvPr id="8" name="Text Box 5">
            <a:extLst>
              <a:ext uri="{FF2B5EF4-FFF2-40B4-BE49-F238E27FC236}">
                <a16:creationId xmlns:a16="http://schemas.microsoft.com/office/drawing/2014/main" id="{58300191-8685-416C-922B-6EB5F0C42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304" y="3131765"/>
            <a:ext cx="4192588" cy="1781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 dirty="0">
                <a:solidFill>
                  <a:srgbClr val="FFFFFF"/>
                </a:solidFill>
              </a:rPr>
              <a:t>  FCA</a:t>
            </a:r>
          </a:p>
          <a:p>
            <a:pPr algn="ctr"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 dirty="0">
                <a:solidFill>
                  <a:srgbClr val="CCFF99"/>
                </a:solidFill>
              </a:rPr>
              <a:t>  HMRC</a:t>
            </a:r>
          </a:p>
          <a:p>
            <a:pPr algn="ctr"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 dirty="0">
                <a:solidFill>
                  <a:srgbClr val="FFFFFF"/>
                </a:solidFill>
              </a:rPr>
              <a:t>  The Gambling Commission</a:t>
            </a:r>
          </a:p>
          <a:p>
            <a:pPr algn="ctr"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 dirty="0">
                <a:solidFill>
                  <a:srgbClr val="CCFF99"/>
                </a:solidFill>
              </a:rPr>
              <a:t>  Professional Body</a:t>
            </a: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7896443D-5D65-4220-9E21-AECB54146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3928" y="5436021"/>
            <a:ext cx="7127875" cy="9366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600" dirty="0">
                <a:solidFill>
                  <a:srgbClr val="00331A"/>
                </a:solidFill>
              </a:rPr>
              <a:t>Who is your Supervisory Authority?</a:t>
            </a:r>
          </a:p>
        </p:txBody>
      </p:sp>
    </p:spTree>
    <p:extLst>
      <p:ext uri="{BB962C8B-B14F-4D97-AF65-F5344CB8AC3E}">
        <p14:creationId xmlns:p14="http://schemas.microsoft.com/office/powerpoint/2010/main" val="22362519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>
            <a:extLst>
              <a:ext uri="{FF2B5EF4-FFF2-40B4-BE49-F238E27FC236}">
                <a16:creationId xmlns:a16="http://schemas.microsoft.com/office/drawing/2014/main" id="{624EEE82-1AF2-4CDA-99E8-5C63DD645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25" y="1511300"/>
            <a:ext cx="6137275" cy="358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13968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lnSpc>
                <a:spcPct val="97000"/>
              </a:lnSpc>
              <a:spcAft>
                <a:spcPct val="0"/>
              </a:spcAft>
              <a:buClrTx/>
              <a:buFontTx/>
              <a:buNone/>
            </a:pPr>
            <a:r>
              <a:rPr lang="en-GB" altLang="en-US" sz="25000">
                <a:solidFill>
                  <a:srgbClr val="FFFFFF"/>
                </a:solidFill>
                <a:latin typeface="Berling Antiqua" panose="02020602060405030402" pitchFamily="18" charset="0"/>
              </a:rPr>
              <a:t>Q</a:t>
            </a:r>
            <a:r>
              <a:rPr lang="en-GB" altLang="en-US" sz="15000">
                <a:solidFill>
                  <a:srgbClr val="FFFFFF"/>
                </a:solidFill>
                <a:latin typeface="Berling Antiqua" panose="02020602060405030402" pitchFamily="18" charset="0"/>
              </a:rPr>
              <a:t>&amp;</a:t>
            </a:r>
            <a:r>
              <a:rPr lang="en-GB" altLang="en-US" sz="25000">
                <a:solidFill>
                  <a:srgbClr val="FFFFFF"/>
                </a:solidFill>
                <a:latin typeface="Berling Antiqua" panose="02020602060405030402" pitchFamily="18" charset="0"/>
              </a:rPr>
              <a:t>A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 Unicode MS"/>
      </a:majorFont>
      <a:minorFont>
        <a:latin typeface="Arial"/>
        <a:ea typeface="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3AFCD32B8BB74C9E1C08220B74DB58" ma:contentTypeVersion="3" ma:contentTypeDescription="Create a new document." ma:contentTypeScope="" ma:versionID="58bb560c7fd73a2fd34e9151f0ea3df9">
  <xsd:schema xmlns:xsd="http://www.w3.org/2001/XMLSchema" xmlns:xs="http://www.w3.org/2001/XMLSchema" xmlns:p="http://schemas.microsoft.com/office/2006/metadata/properties" xmlns:ns2="c5058b96-c764-43e9-be9c-452d751a8354" targetNamespace="http://schemas.microsoft.com/office/2006/metadata/properties" ma:root="true" ma:fieldsID="eb6b4260bb7439f85478c4ebf0586b63" ns2:_="">
    <xsd:import namespace="c5058b96-c764-43e9-be9c-452d751a83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058b96-c764-43e9-be9c-452d751a83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D140AE-9F09-44A3-BBB8-436E021A73A9}"/>
</file>

<file path=customXml/itemProps2.xml><?xml version="1.0" encoding="utf-8"?>
<ds:datastoreItem xmlns:ds="http://schemas.openxmlformats.org/officeDocument/2006/customXml" ds:itemID="{4E08E6CC-4DE4-49FD-8E58-4939CEA7ACA0}"/>
</file>

<file path=customXml/itemProps3.xml><?xml version="1.0" encoding="utf-8"?>
<ds:datastoreItem xmlns:ds="http://schemas.openxmlformats.org/officeDocument/2006/customXml" ds:itemID="{F341B3C4-D531-4D08-A352-017424E905A9}"/>
</file>

<file path=docProps/app.xml><?xml version="1.0" encoding="utf-8"?>
<Properties xmlns="http://schemas.openxmlformats.org/officeDocument/2006/extended-properties" xmlns:vt="http://schemas.openxmlformats.org/officeDocument/2006/docPropsVTypes">
  <TotalTime>1638</TotalTime>
  <Words>1167</Words>
  <Application>Microsoft Office PowerPoint</Application>
  <PresentationFormat>Custom</PresentationFormat>
  <Paragraphs>208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Berling Antiqua</vt:lpstr>
      <vt:lpstr>Cambria</vt:lpstr>
      <vt:lpstr>Times New Roman</vt:lpstr>
      <vt:lpstr>Verdana</vt:lpstr>
      <vt:lpstr>Wingdings</vt:lpstr>
      <vt:lpstr>Office Theme</vt:lpstr>
      <vt:lpstr>Office Theme</vt:lpstr>
      <vt:lpstr>Office Theme</vt:lpstr>
      <vt:lpstr>ANTI-MONEY LAUNDERING</vt:lpstr>
      <vt:lpstr>What is Money Laundering?</vt:lpstr>
      <vt:lpstr>Legal Rules &amp; Regulatory Requirements</vt:lpstr>
      <vt:lpstr>Joint Money Laundering Steering Group</vt:lpstr>
      <vt:lpstr>Financial Action Task Force (FATF)</vt:lpstr>
      <vt:lpstr>The Money Laundering Process</vt:lpstr>
      <vt:lpstr>AML Measures &amp; Controls</vt:lpstr>
      <vt:lpstr>Risk Based Approach</vt:lpstr>
      <vt:lpstr>Due Diligence</vt:lpstr>
      <vt:lpstr>Know Your Customer</vt:lpstr>
      <vt:lpstr>Policy &amp; Procedures</vt:lpstr>
      <vt:lpstr>Staff Training &amp; Awareness</vt:lpstr>
      <vt:lpstr>Governance &amp; Oversight</vt:lpstr>
      <vt:lpstr>Money Laundering Reporting Officer &amp; Nominated Officer</vt:lpstr>
      <vt:lpstr>Audits &amp; Monitoring</vt:lpstr>
      <vt:lpstr>Record Keeping</vt:lpstr>
      <vt:lpstr>Tipping Off</vt:lpstr>
      <vt:lpstr>Reporting &amp; SAR's</vt:lpstr>
      <vt:lpstr>Supervisory Authority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ANTI-MONEY LAUNDERING</dc:title>
  <dc:creator>Catherine Roberts</dc:creator>
  <cp:lastModifiedBy>Catherine Roberts</cp:lastModifiedBy>
  <cp:revision>125</cp:revision>
  <cp:lastPrinted>2017-10-17T09:24:21Z</cp:lastPrinted>
  <dcterms:created xsi:type="dcterms:W3CDTF">2013-10-21T12:11:51Z</dcterms:created>
  <dcterms:modified xsi:type="dcterms:W3CDTF">2021-04-29T14:44:46Z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2311800</vt:r8>
  </property>
  <property fmtid="{D5CDD505-2E9C-101B-9397-08002B2CF9AE}" pid="3" name="ContentTypeId">
    <vt:lpwstr>0x010100B73AFCD32B8BB74C9E1C08220B74DB58</vt:lpwstr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ProgID">
    <vt:lpwstr/>
  </property>
  <property fmtid="{D5CDD505-2E9C-101B-9397-08002B2CF9AE}" pid="10" name="TemplateUrl">
    <vt:lpwstr/>
  </property>
  <property fmtid="{D5CDD505-2E9C-101B-9397-08002B2CF9AE}" pid="11" name="xd_Signature">
    <vt:bool>false</vt:bool>
  </property>
</Properties>
</file>